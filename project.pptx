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08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438912"/>
            <a:ext cx="3657600" cy="493776"/>
          </a:xfrm>
          <a:prstGeom prst="roundRect">
            <a:avLst/>
          </a:prstGeom>
          <a:solidFill>
            <a:srgbClr val="16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502920"/>
            <a:ext cx="3383280" cy="347472"/>
          </a:xfrm>
          <a:prstGeom prst="rect">
            <a:avLst/>
          </a:prstGeom>
          <a:noFill/>
        </p:spPr>
        <p:txBody>
          <a:bodyPr wrap="square" lIns="54864" rIns="54864" tIns="18288" bIns="18288">
            <a:spAutoFit/>
          </a:bodyPr>
          <a:lstStyle/>
          <a:p>
            <a:pPr algn="l"/>
            <a:r>
              <a:rPr sz="2200" b="1">
                <a:solidFill>
                  <a:srgbClr val="FFFFFF"/>
                </a:solidFill>
                <a:latin typeface="Aptos"/>
              </a:rPr>
              <a:t>SYNTAX SQUAD</a:t>
            </a:r>
          </a:p>
        </p:txBody>
      </p:sp>
      <p:sp>
        <p:nvSpPr>
          <p:cNvPr id="5" name="TextBox 4"/>
          <p:cNvSpPr txBox="1"/>
          <p:nvPr/>
        </p:nvSpPr>
        <p:spPr>
          <a:xfrm>
            <a:off x="603504" y="1133856"/>
            <a:ext cx="10972800" cy="237744"/>
          </a:xfrm>
          <a:prstGeom prst="rect">
            <a:avLst/>
          </a:prstGeom>
          <a:noFill/>
        </p:spPr>
        <p:txBody>
          <a:bodyPr wrap="square" lIns="54864" rIns="54864" tIns="18288" bIns="18288">
            <a:spAutoFit/>
          </a:bodyPr>
          <a:lstStyle/>
          <a:p>
            <a:pPr algn="l"/>
            <a:r>
              <a:rPr sz="1100" b="1">
                <a:solidFill>
                  <a:srgbClr val="008491"/>
                </a:solidFill>
                <a:latin typeface="Aptos"/>
              </a:rPr>
              <a:t>FIRST-YEAR B.TECH PROJECT  •  IOT &amp; ASSISTIVE TECHNOLOGY</a:t>
            </a:r>
          </a:p>
        </p:txBody>
      </p:sp>
      <p:sp>
        <p:nvSpPr>
          <p:cNvPr id="6" name="Rounded Rectangle 5"/>
          <p:cNvSpPr/>
          <p:nvPr/>
        </p:nvSpPr>
        <p:spPr>
          <a:xfrm>
            <a:off x="566928" y="1572768"/>
            <a:ext cx="7726679" cy="713232"/>
          </a:xfrm>
          <a:prstGeom prst="roundRect">
            <a:avLst/>
          </a:prstGeom>
          <a:solidFill>
            <a:srgbClr val="386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673352"/>
            <a:ext cx="7315200" cy="475488"/>
          </a:xfrm>
          <a:prstGeom prst="rect">
            <a:avLst/>
          </a:prstGeom>
          <a:noFill/>
        </p:spPr>
        <p:txBody>
          <a:bodyPr wrap="square" lIns="54864" rIns="54864" tIns="18288" bIns="18288">
            <a:spAutoFit/>
          </a:bodyPr>
          <a:lstStyle/>
          <a:p>
            <a:pPr algn="l"/>
            <a:r>
              <a:rPr sz="2700" b="1">
                <a:solidFill>
                  <a:srgbClr val="FFFFFF"/>
                </a:solidFill>
                <a:latin typeface="Aptos"/>
              </a:rPr>
              <a:t>SMART MEDICAL DISPENSER</a:t>
            </a:r>
          </a:p>
        </p:txBody>
      </p:sp>
      <p:sp>
        <p:nvSpPr>
          <p:cNvPr id="8" name="Rounded Rectangle 7"/>
          <p:cNvSpPr/>
          <p:nvPr/>
        </p:nvSpPr>
        <p:spPr>
          <a:xfrm>
            <a:off x="566928" y="2377440"/>
            <a:ext cx="7726679" cy="585216"/>
          </a:xfrm>
          <a:prstGeom prst="roundRect">
            <a:avLst/>
          </a:prstGeom>
          <a:solidFill>
            <a:srgbClr val="7B52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450592"/>
            <a:ext cx="7315200" cy="411480"/>
          </a:xfrm>
          <a:prstGeom prst="rect">
            <a:avLst/>
          </a:prstGeom>
          <a:noFill/>
        </p:spPr>
        <p:txBody>
          <a:bodyPr wrap="square" lIns="54864" rIns="54864" tIns="18288" bIns="18288">
            <a:spAutoFit/>
          </a:bodyPr>
          <a:lstStyle/>
          <a:p>
            <a:pPr algn="l"/>
            <a:r>
              <a:rPr sz="2200" b="1">
                <a:solidFill>
                  <a:srgbClr val="FFFFFF"/>
                </a:solidFill>
                <a:latin typeface="Aptos"/>
              </a:rPr>
              <a:t>FOR ELDERLY PEOPLE</a:t>
            </a:r>
          </a:p>
        </p:txBody>
      </p:sp>
      <p:sp>
        <p:nvSpPr>
          <p:cNvPr id="10" name="TextBox 9"/>
          <p:cNvSpPr txBox="1"/>
          <p:nvPr/>
        </p:nvSpPr>
        <p:spPr>
          <a:xfrm>
            <a:off x="621792" y="3136392"/>
            <a:ext cx="7589520" cy="384048"/>
          </a:xfrm>
          <a:prstGeom prst="rect">
            <a:avLst/>
          </a:prstGeom>
          <a:noFill/>
        </p:spPr>
        <p:txBody>
          <a:bodyPr wrap="square" lIns="54864" rIns="54864" tIns="18288" bIns="18288">
            <a:spAutoFit/>
          </a:bodyPr>
          <a:lstStyle/>
          <a:p>
            <a:pPr algn="l"/>
            <a:r>
              <a:rPr sz="1600" b="1">
                <a:solidFill>
                  <a:srgbClr val="162648"/>
                </a:solidFill>
                <a:latin typeface="Aptos"/>
              </a:rPr>
              <a:t>Right Medicine  •  Right Time  •  Better Care</a:t>
            </a:r>
          </a:p>
        </p:txBody>
      </p:sp>
      <p:sp>
        <p:nvSpPr>
          <p:cNvPr id="11" name="TextBox 10"/>
          <p:cNvSpPr txBox="1"/>
          <p:nvPr/>
        </p:nvSpPr>
        <p:spPr>
          <a:xfrm>
            <a:off x="621792" y="3575304"/>
            <a:ext cx="7543800" cy="493776"/>
          </a:xfrm>
          <a:prstGeom prst="rect">
            <a:avLst/>
          </a:prstGeom>
          <a:noFill/>
        </p:spPr>
        <p:txBody>
          <a:bodyPr wrap="square" lIns="54864" rIns="54864" tIns="18288" bIns="18288">
            <a:spAutoFit/>
          </a:bodyPr>
          <a:lstStyle/>
          <a:p>
            <a:pPr algn="l"/>
            <a:r>
              <a:rPr sz="1400" b="0">
                <a:solidFill>
                  <a:srgbClr val="4E5869"/>
                </a:solidFill>
                <a:latin typeface="Aptos"/>
              </a:rPr>
              <a:t>“Small steps today, healthier tomorrows.”</a:t>
            </a:r>
          </a:p>
        </p:txBody>
      </p:sp>
      <p:sp>
        <p:nvSpPr>
          <p:cNvPr id="12" name="Rounded Rectangle 11"/>
          <p:cNvSpPr/>
          <p:nvPr/>
        </p:nvSpPr>
        <p:spPr>
          <a:xfrm>
            <a:off x="8577072" y="1261872"/>
            <a:ext cx="3054096" cy="3127248"/>
          </a:xfrm>
          <a:prstGeom prst="roundRect">
            <a:avLst/>
          </a:prstGeom>
          <a:solidFill>
            <a:srgbClr val="F5F7FA"/>
          </a:solidFill>
          <a:ln w="1524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33104" y="1481328"/>
            <a:ext cx="2560320" cy="310896"/>
          </a:xfrm>
          <a:prstGeom prst="rect">
            <a:avLst/>
          </a:prstGeom>
          <a:noFill/>
        </p:spPr>
        <p:txBody>
          <a:bodyPr wrap="square" lIns="54864" rIns="54864" tIns="18288" bIns="18288">
            <a:spAutoFit/>
          </a:bodyPr>
          <a:lstStyle/>
          <a:p>
            <a:pPr algn="l"/>
            <a:r>
              <a:rPr sz="1300" b="1">
                <a:solidFill>
                  <a:srgbClr val="008491"/>
                </a:solidFill>
                <a:latin typeface="Aptos"/>
              </a:rPr>
              <a:t>TEAM DETAILS</a:t>
            </a:r>
          </a:p>
        </p:txBody>
      </p:sp>
      <p:sp>
        <p:nvSpPr>
          <p:cNvPr id="14" name="TextBox 13"/>
          <p:cNvSpPr txBox="1"/>
          <p:nvPr/>
        </p:nvSpPr>
        <p:spPr>
          <a:xfrm>
            <a:off x="8833104" y="1901952"/>
            <a:ext cx="2560320" cy="237744"/>
          </a:xfrm>
          <a:prstGeom prst="rect">
            <a:avLst/>
          </a:prstGeom>
          <a:noFill/>
        </p:spPr>
        <p:txBody>
          <a:bodyPr wrap="square" lIns="54864" rIns="54864" tIns="18288" bIns="18288">
            <a:spAutoFit/>
          </a:bodyPr>
          <a:lstStyle/>
          <a:p>
            <a:pPr algn="l"/>
            <a:r>
              <a:rPr sz="1000" b="1">
                <a:solidFill>
                  <a:srgbClr val="4E5869"/>
                </a:solidFill>
                <a:latin typeface="Aptos"/>
              </a:rPr>
              <a:t>TEAM LEADER</a:t>
            </a:r>
          </a:p>
        </p:txBody>
      </p:sp>
      <p:sp>
        <p:nvSpPr>
          <p:cNvPr id="15" name="TextBox 14"/>
          <p:cNvSpPr txBox="1"/>
          <p:nvPr/>
        </p:nvSpPr>
        <p:spPr>
          <a:xfrm>
            <a:off x="8833104" y="2139696"/>
            <a:ext cx="2560320" cy="347472"/>
          </a:xfrm>
          <a:prstGeom prst="rect">
            <a:avLst/>
          </a:prstGeom>
          <a:noFill/>
        </p:spPr>
        <p:txBody>
          <a:bodyPr wrap="square" lIns="54864" rIns="54864" tIns="18288" bIns="18288">
            <a:spAutoFit/>
          </a:bodyPr>
          <a:lstStyle/>
          <a:p>
            <a:pPr algn="l"/>
            <a:r>
              <a:rPr sz="1700" b="1">
                <a:solidFill>
                  <a:srgbClr val="162648"/>
                </a:solidFill>
                <a:latin typeface="Aptos"/>
              </a:rPr>
              <a:t>YOGALAKSHMI</a:t>
            </a:r>
          </a:p>
        </p:txBody>
      </p:sp>
      <p:sp>
        <p:nvSpPr>
          <p:cNvPr id="16" name="TextBox 15"/>
          <p:cNvSpPr txBox="1"/>
          <p:nvPr/>
        </p:nvSpPr>
        <p:spPr>
          <a:xfrm>
            <a:off x="8833104" y="2596896"/>
            <a:ext cx="2560320" cy="237744"/>
          </a:xfrm>
          <a:prstGeom prst="rect">
            <a:avLst/>
          </a:prstGeom>
          <a:noFill/>
        </p:spPr>
        <p:txBody>
          <a:bodyPr wrap="square" lIns="54864" rIns="54864" tIns="18288" bIns="18288">
            <a:spAutoFit/>
          </a:bodyPr>
          <a:lstStyle/>
          <a:p>
            <a:pPr algn="l"/>
            <a:r>
              <a:rPr sz="1000" b="1">
                <a:solidFill>
                  <a:srgbClr val="4E5869"/>
                </a:solidFill>
                <a:latin typeface="Aptos"/>
              </a:rPr>
              <a:t>TEAM MEMBERS</a:t>
            </a:r>
          </a:p>
        </p:txBody>
      </p:sp>
      <p:sp>
        <p:nvSpPr>
          <p:cNvPr id="17" name="TextBox 16"/>
          <p:cNvSpPr txBox="1"/>
          <p:nvPr/>
        </p:nvSpPr>
        <p:spPr>
          <a:xfrm>
            <a:off x="8833104" y="2862072"/>
            <a:ext cx="2542032" cy="1170432"/>
          </a:xfrm>
          <a:prstGeom prst="rect">
            <a:avLst/>
          </a:prstGeom>
          <a:noFill/>
        </p:spPr>
        <p:txBody>
          <a:bodyPr wrap="square" lIns="54864" rIns="54864" tIns="18288" bIns="18288">
            <a:spAutoFit/>
          </a:bodyPr>
          <a:lstStyle/>
          <a:p>
            <a:pPr algn="l"/>
            <a:r>
              <a:rPr sz="1200" b="1">
                <a:solidFill>
                  <a:srgbClr val="162648"/>
                </a:solidFill>
                <a:latin typeface="Aptos"/>
              </a:rPr>
              <a:t>VIKRAM</a:t>
            </a:r>
            <a:br/>
            <a:r>
              <a:rPr sz="1200" b="1">
                <a:solidFill>
                  <a:srgbClr val="162648"/>
                </a:solidFill>
                <a:latin typeface="Aptos"/>
              </a:rPr>
              <a:t>KISHORE KANNAN</a:t>
            </a:r>
            <a:br/>
            <a:r>
              <a:rPr sz="1200" b="1">
                <a:solidFill>
                  <a:srgbClr val="162648"/>
                </a:solidFill>
                <a:latin typeface="Aptos"/>
              </a:rPr>
              <a:t>DHARANEESHWARAN</a:t>
            </a:r>
            <a:br/>
            <a:r>
              <a:rPr sz="1200" b="1">
                <a:solidFill>
                  <a:srgbClr val="162648"/>
                </a:solidFill>
                <a:latin typeface="Aptos"/>
              </a:rPr>
              <a:t>HEMAVARSHINI</a:t>
            </a:r>
            <a:br/>
            <a:r>
              <a:rPr sz="1200" b="1">
                <a:solidFill>
                  <a:srgbClr val="162648"/>
                </a:solidFill>
                <a:latin typeface="Aptos"/>
              </a:rPr>
              <a:t>AMIRTHA</a:t>
            </a:r>
          </a:p>
        </p:txBody>
      </p:sp>
      <p:sp>
        <p:nvSpPr>
          <p:cNvPr id="18" name="TextBox 17"/>
          <p:cNvSpPr txBox="1"/>
          <p:nvPr/>
        </p:nvSpPr>
        <p:spPr>
          <a:xfrm>
            <a:off x="603504" y="4370832"/>
            <a:ext cx="10972800" cy="256032"/>
          </a:xfrm>
          <a:prstGeom prst="rect">
            <a:avLst/>
          </a:prstGeom>
          <a:noFill/>
        </p:spPr>
        <p:txBody>
          <a:bodyPr wrap="square" lIns="54864" rIns="54864" tIns="18288" bIns="18288">
            <a:spAutoFit/>
          </a:bodyPr>
          <a:lstStyle/>
          <a:p>
            <a:pPr algn="l"/>
            <a:r>
              <a:rPr sz="1100" b="1">
                <a:solidFill>
                  <a:srgbClr val="4E5869"/>
                </a:solidFill>
                <a:latin typeface="Aptos"/>
              </a:rPr>
              <a:t>PROJECT OVERVIEW</a:t>
            </a:r>
          </a:p>
        </p:txBody>
      </p:sp>
      <p:sp>
        <p:nvSpPr>
          <p:cNvPr id="19" name="Rounded Rectangle 18"/>
          <p:cNvSpPr/>
          <p:nvPr/>
        </p:nvSpPr>
        <p:spPr>
          <a:xfrm>
            <a:off x="603504" y="4736592"/>
            <a:ext cx="2615184" cy="640080"/>
          </a:xfrm>
          <a:prstGeom prst="roundRect">
            <a:avLst/>
          </a:prstGeom>
          <a:solidFill>
            <a:srgbClr val="386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4855464"/>
            <a:ext cx="2432303" cy="384048"/>
          </a:xfrm>
          <a:prstGeom prst="rect">
            <a:avLst/>
          </a:prstGeom>
          <a:noFill/>
        </p:spPr>
        <p:txBody>
          <a:bodyPr wrap="square" lIns="54864" rIns="54864" tIns="18288" bIns="18288">
            <a:spAutoFit/>
          </a:bodyPr>
          <a:lstStyle/>
          <a:p>
            <a:pPr algn="ctr"/>
            <a:r>
              <a:rPr sz="1800" b="1">
                <a:solidFill>
                  <a:srgbClr val="FFFFFF"/>
                </a:solidFill>
                <a:latin typeface="Aptos"/>
              </a:rPr>
              <a:t>PROBLEM</a:t>
            </a:r>
          </a:p>
        </p:txBody>
      </p:sp>
      <p:sp>
        <p:nvSpPr>
          <p:cNvPr id="21" name="Rounded Rectangle 20"/>
          <p:cNvSpPr/>
          <p:nvPr/>
        </p:nvSpPr>
        <p:spPr>
          <a:xfrm>
            <a:off x="3419856" y="4736592"/>
            <a:ext cx="2615184" cy="640080"/>
          </a:xfrm>
          <a:prstGeom prst="roundRect">
            <a:avLst/>
          </a:prstGeom>
          <a:solidFill>
            <a:srgbClr val="7B52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11296" y="4855464"/>
            <a:ext cx="2432303" cy="384048"/>
          </a:xfrm>
          <a:prstGeom prst="rect">
            <a:avLst/>
          </a:prstGeom>
          <a:noFill/>
        </p:spPr>
        <p:txBody>
          <a:bodyPr wrap="square" lIns="54864" rIns="54864" tIns="18288" bIns="18288">
            <a:spAutoFit/>
          </a:bodyPr>
          <a:lstStyle/>
          <a:p>
            <a:pPr algn="ctr"/>
            <a:r>
              <a:rPr sz="1800" b="1">
                <a:solidFill>
                  <a:srgbClr val="FFFFFF"/>
                </a:solidFill>
                <a:latin typeface="Aptos"/>
              </a:rPr>
              <a:t>PAIN</a:t>
            </a:r>
          </a:p>
        </p:txBody>
      </p:sp>
      <p:sp>
        <p:nvSpPr>
          <p:cNvPr id="23" name="Rounded Rectangle 22"/>
          <p:cNvSpPr/>
          <p:nvPr/>
        </p:nvSpPr>
        <p:spPr>
          <a:xfrm>
            <a:off x="6236208" y="4736592"/>
            <a:ext cx="2615184" cy="640080"/>
          </a:xfrm>
          <a:prstGeom prst="roundRect">
            <a:avLst/>
          </a:prstGeom>
          <a:solidFill>
            <a:srgbClr val="E28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4855464"/>
            <a:ext cx="2432303" cy="384048"/>
          </a:xfrm>
          <a:prstGeom prst="rect">
            <a:avLst/>
          </a:prstGeom>
          <a:noFill/>
        </p:spPr>
        <p:txBody>
          <a:bodyPr wrap="square" lIns="54864" rIns="54864" tIns="18288" bIns="18288">
            <a:spAutoFit/>
          </a:bodyPr>
          <a:lstStyle/>
          <a:p>
            <a:pPr algn="ctr"/>
            <a:r>
              <a:rPr sz="1800" b="1">
                <a:solidFill>
                  <a:srgbClr val="FFFFFF"/>
                </a:solidFill>
                <a:latin typeface="Aptos"/>
              </a:rPr>
              <a:t>PROOF</a:t>
            </a:r>
          </a:p>
        </p:txBody>
      </p:sp>
      <p:sp>
        <p:nvSpPr>
          <p:cNvPr id="25" name="Rounded Rectangle 24"/>
          <p:cNvSpPr/>
          <p:nvPr/>
        </p:nvSpPr>
        <p:spPr>
          <a:xfrm>
            <a:off x="9052560" y="4736592"/>
            <a:ext cx="2615184" cy="640080"/>
          </a:xfrm>
          <a:prstGeom prst="roundRect">
            <a:avLst/>
          </a:prstGeom>
          <a:solidFill>
            <a:srgbClr val="2B9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4855464"/>
            <a:ext cx="2432303" cy="384048"/>
          </a:xfrm>
          <a:prstGeom prst="rect">
            <a:avLst/>
          </a:prstGeom>
          <a:noFill/>
        </p:spPr>
        <p:txBody>
          <a:bodyPr wrap="square" lIns="54864" rIns="54864" tIns="18288" bIns="18288">
            <a:spAutoFit/>
          </a:bodyPr>
          <a:lstStyle/>
          <a:p>
            <a:pPr algn="ctr"/>
            <a:r>
              <a:rPr sz="1800" b="1">
                <a:solidFill>
                  <a:srgbClr val="FFFFFF"/>
                </a:solidFill>
                <a:latin typeface="Aptos"/>
              </a:rPr>
              <a:t>SOLUTION</a:t>
            </a:r>
          </a:p>
        </p:txBody>
      </p:sp>
      <p:sp>
        <p:nvSpPr>
          <p:cNvPr id="27" name="TextBox 26"/>
          <p:cNvSpPr txBox="1"/>
          <p:nvPr/>
        </p:nvSpPr>
        <p:spPr>
          <a:xfrm>
            <a:off x="621792" y="5623560"/>
            <a:ext cx="10972800" cy="329184"/>
          </a:xfrm>
          <a:prstGeom prst="rect">
            <a:avLst/>
          </a:prstGeom>
          <a:noFill/>
        </p:spPr>
        <p:txBody>
          <a:bodyPr wrap="square" lIns="54864" rIns="54864" tIns="18288" bIns="18288">
            <a:spAutoFit/>
          </a:bodyPr>
          <a:lstStyle/>
          <a:p>
            <a:pPr algn="l"/>
            <a:r>
              <a:rPr sz="1000" b="1">
                <a:solidFill>
                  <a:srgbClr val="4E5869"/>
                </a:solidFill>
                <a:latin typeface="Aptos"/>
              </a:rPr>
              <a:t>ESP32  |  RTC MODULE  |  AUTOMATED DISPENSING  |  TAMIL VOICE REMINDER  |  CAREGIVER ALERT</a:t>
            </a:r>
          </a:p>
        </p:txBody>
      </p:sp>
      <p:sp>
        <p:nvSpPr>
          <p:cNvPr id="28" name="Rectangle 27"/>
          <p:cNvSpPr/>
          <p:nvPr/>
        </p:nvSpPr>
        <p:spPr>
          <a:xfrm>
            <a:off x="603504" y="6144768"/>
            <a:ext cx="10972800" cy="22860"/>
          </a:xfrm>
          <a:prstGeom prst="rect">
            <a:avLst/>
          </a:prstGeom>
          <a:solidFill>
            <a:srgbClr val="DC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6245352"/>
            <a:ext cx="10789920" cy="219456"/>
          </a:xfrm>
          <a:prstGeom prst="rect">
            <a:avLst/>
          </a:prstGeom>
          <a:noFill/>
        </p:spPr>
        <p:txBody>
          <a:bodyPr wrap="square" lIns="54864" rIns="54864" tIns="18288" bIns="18288">
            <a:spAutoFit/>
          </a:bodyPr>
          <a:lstStyle/>
          <a:p>
            <a:pPr algn="l"/>
            <a:r>
              <a:rPr sz="900" b="0">
                <a:solidFill>
                  <a:srgbClr val="4E5869"/>
                </a:solidFill>
                <a:latin typeface="Aptos"/>
              </a:rPr>
              <a:t>A supportive reminder system — caregivers verify medicine loading and prescribed schedules.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EF8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02  •  PROBLEM STATEMENT</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Problem Statement</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EF8F2E"/>
                </a:solidFill>
                <a:latin typeface="Aptos"/>
              </a:defRPr>
            </a:pPr>
            <a:r>
              <a:t>SYNTAX SQUAD</a:t>
            </a:r>
          </a:p>
        </p:txBody>
      </p:sp>
      <p:sp>
        <p:nvSpPr>
          <p:cNvPr id="7" name="Rectangle 6"/>
          <p:cNvSpPr/>
          <p:nvPr/>
        </p:nvSpPr>
        <p:spPr>
          <a:xfrm>
            <a:off x="594360" y="1572768"/>
            <a:ext cx="10972800" cy="32004"/>
          </a:xfrm>
          <a:prstGeom prst="rect">
            <a:avLst/>
          </a:prstGeom>
          <a:solidFill>
            <a:srgbClr val="EF8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Medication mistakes can happen when several medicines must be taken at different times. A simple, accessible system can help users follow a prescribed schedule and give caregivers clearer information about missed collection events.</a:t>
            </a:r>
          </a:p>
        </p:txBody>
      </p:sp>
      <p:sp>
        <p:nvSpPr>
          <p:cNvPr id="9" name="Rounded Rectangle 8"/>
          <p:cNvSpPr/>
          <p:nvPr/>
        </p:nvSpPr>
        <p:spPr>
          <a:xfrm>
            <a:off x="777240" y="2743200"/>
            <a:ext cx="3429000" cy="23317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62072"/>
            <a:ext cx="3118104" cy="365760"/>
          </a:xfrm>
          <a:prstGeom prst="rect">
            <a:avLst/>
          </a:prstGeom>
          <a:noFill/>
        </p:spPr>
        <p:txBody>
          <a:bodyPr wrap="square" lIns="36576" rIns="36576" tIns="27432">
            <a:spAutoFit/>
          </a:bodyPr>
          <a:lstStyle/>
          <a:p>
            <a:pPr>
              <a:spcAft>
                <a:spcPts val="700"/>
              </a:spcAft>
              <a:defRPr sz="1600" b="1">
                <a:solidFill>
                  <a:srgbClr val="EF8F2E"/>
                </a:solidFill>
                <a:latin typeface="Aptos"/>
              </a:defRPr>
            </a:pPr>
            <a:r>
              <a:t>FORGETTING DOSES</a:t>
            </a:r>
          </a:p>
        </p:txBody>
      </p:sp>
      <p:sp>
        <p:nvSpPr>
          <p:cNvPr id="11" name="TextBox 10"/>
          <p:cNvSpPr txBox="1"/>
          <p:nvPr/>
        </p:nvSpPr>
        <p:spPr>
          <a:xfrm>
            <a:off x="932688" y="3282696"/>
            <a:ext cx="3118104" cy="1719072"/>
          </a:xfrm>
          <a:prstGeom prst="rect">
            <a:avLst/>
          </a:prstGeom>
          <a:noFill/>
        </p:spPr>
        <p:txBody>
          <a:bodyPr wrap="square" lIns="36576" rIns="36576" tIns="27432">
            <a:normAutofit/>
          </a:bodyPr>
          <a:lstStyle/>
          <a:p>
            <a:r>
              <a:rPr sz="1300"/>
              <a:t>An elderly person may forget a scheduled tablet, especially when the daily routine is complex. Multiple dose times, sleep changes, or memory difficulties can make it hard to remember whether a tablet has already been taken. A reminder at the correct time can support a more consistent routine.</a:t>
            </a:r>
          </a:p>
        </p:txBody>
      </p:sp>
      <p:sp>
        <p:nvSpPr>
          <p:cNvPr id="12" name="Rounded Rectangle 11"/>
          <p:cNvSpPr/>
          <p:nvPr/>
        </p:nvSpPr>
        <p:spPr>
          <a:xfrm>
            <a:off x="4553712" y="2743200"/>
            <a:ext cx="3429000" cy="23317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2862072"/>
            <a:ext cx="3118104" cy="365760"/>
          </a:xfrm>
          <a:prstGeom prst="rect">
            <a:avLst/>
          </a:prstGeom>
          <a:noFill/>
        </p:spPr>
        <p:txBody>
          <a:bodyPr wrap="square" lIns="36576" rIns="36576" tIns="27432">
            <a:spAutoFit/>
          </a:bodyPr>
          <a:lstStyle/>
          <a:p>
            <a:pPr>
              <a:spcAft>
                <a:spcPts val="700"/>
              </a:spcAft>
              <a:defRPr sz="1600" b="1">
                <a:solidFill>
                  <a:srgbClr val="6B36AA"/>
                </a:solidFill>
                <a:latin typeface="Aptos"/>
              </a:defRPr>
            </a:pPr>
            <a:r>
              <a:t>MEDICINE CONFUSION</a:t>
            </a:r>
          </a:p>
        </p:txBody>
      </p:sp>
      <p:sp>
        <p:nvSpPr>
          <p:cNvPr id="14" name="TextBox 13"/>
          <p:cNvSpPr txBox="1"/>
          <p:nvPr/>
        </p:nvSpPr>
        <p:spPr>
          <a:xfrm>
            <a:off x="4709159" y="3282696"/>
            <a:ext cx="3118104" cy="1719072"/>
          </a:xfrm>
          <a:prstGeom prst="rect">
            <a:avLst/>
          </a:prstGeom>
          <a:noFill/>
        </p:spPr>
        <p:txBody>
          <a:bodyPr wrap="square" lIns="36576" rIns="36576" tIns="27432">
            <a:normAutofit/>
          </a:bodyPr>
          <a:lstStyle/>
          <a:p>
            <a:r>
              <a:rPr sz="1300"/>
              <a:t>Similar-looking tablets, small labels, and multiple compartments can make selection difficult. Users may not understand English instructions or tiny printed medicine names. Clearly separated, caregiver-labelled compartments and recorded Tamil prompts can make the routine easier to follow.</a:t>
            </a:r>
          </a:p>
        </p:txBody>
      </p:sp>
      <p:sp>
        <p:nvSpPr>
          <p:cNvPr id="15" name="Rounded Rectangle 14"/>
          <p:cNvSpPr/>
          <p:nvPr/>
        </p:nvSpPr>
        <p:spPr>
          <a:xfrm>
            <a:off x="8330183" y="2743200"/>
            <a:ext cx="3429000" cy="23317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2862072"/>
            <a:ext cx="3118104" cy="365760"/>
          </a:xfrm>
          <a:prstGeom prst="rect">
            <a:avLst/>
          </a:prstGeom>
          <a:noFill/>
        </p:spPr>
        <p:txBody>
          <a:bodyPr wrap="square" lIns="36576" rIns="36576" tIns="27432">
            <a:spAutoFit/>
          </a:bodyPr>
          <a:lstStyle/>
          <a:p>
            <a:pPr>
              <a:spcAft>
                <a:spcPts val="700"/>
              </a:spcAft>
              <a:defRPr sz="1600" b="1">
                <a:solidFill>
                  <a:srgbClr val="19968E"/>
                </a:solidFill>
                <a:latin typeface="Aptos"/>
              </a:defRPr>
            </a:pPr>
            <a:r>
              <a:t>LIMITED SUPERVISION</a:t>
            </a:r>
          </a:p>
        </p:txBody>
      </p:sp>
      <p:sp>
        <p:nvSpPr>
          <p:cNvPr id="17" name="TextBox 16"/>
          <p:cNvSpPr txBox="1"/>
          <p:nvPr/>
        </p:nvSpPr>
        <p:spPr>
          <a:xfrm>
            <a:off x="8485632" y="3282696"/>
            <a:ext cx="3118104" cy="1719072"/>
          </a:xfrm>
          <a:prstGeom prst="rect">
            <a:avLst/>
          </a:prstGeom>
          <a:noFill/>
        </p:spPr>
        <p:txBody>
          <a:bodyPr wrap="square" lIns="36576" rIns="36576" tIns="27432">
            <a:normAutofit/>
          </a:bodyPr>
          <a:lstStyle/>
          <a:p>
            <a:r>
              <a:rPr sz="1300"/>
              <a:t>Caregivers may not be available to check every dose in person. They may be at work or living separately, so missed-dose events can go unnoticed. A connected alert can provide useful information when network access is available, but it cannot replace clinical supervision.</a:t>
            </a:r>
          </a:p>
        </p:txBody>
      </p:sp>
      <p:sp>
        <p:nvSpPr>
          <p:cNvPr id="18" name="TextBox 17"/>
          <p:cNvSpPr txBox="1"/>
          <p:nvPr/>
        </p:nvSpPr>
        <p:spPr>
          <a:xfrm>
            <a:off x="868680" y="5897880"/>
            <a:ext cx="10515600" cy="502920"/>
          </a:xfrm>
          <a:prstGeom prst="rect">
            <a:avLst/>
          </a:prstGeom>
          <a:noFill/>
        </p:spPr>
        <p:txBody>
          <a:bodyPr wrap="square" lIns="36576" rIns="36576" tIns="27432">
            <a:normAutofit/>
          </a:bodyPr>
          <a:lstStyle/>
          <a:p>
            <a:r>
              <a:rPr sz="1200"/>
              <a:t>Project goal: support the correct scheduled dose with a clear reminder, simple operation, and caregiver visibility. The device is a support tool; caregivers must verify the prescription, medicine loading, and schedule.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6B3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03  •  PAIN POINTS</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Pain Points</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6B36AA"/>
                </a:solidFill>
                <a:latin typeface="Aptos"/>
              </a:defRPr>
            </a:pPr>
            <a:r>
              <a:t>SYNTAX SQUAD</a:t>
            </a:r>
          </a:p>
        </p:txBody>
      </p:sp>
      <p:sp>
        <p:nvSpPr>
          <p:cNvPr id="7" name="Rectangle 6"/>
          <p:cNvSpPr/>
          <p:nvPr/>
        </p:nvSpPr>
        <p:spPr>
          <a:xfrm>
            <a:off x="594360" y="1572768"/>
            <a:ext cx="10972800" cy="32004"/>
          </a:xfrm>
          <a:prstGeom prst="rect">
            <a:avLst/>
          </a:prstGeom>
          <a:solidFill>
            <a:srgbClr val="6B3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The challenge affects both elderly users and the people who support them. The design must be easy to understand, safe to load, and dependable during everyday use—not just during a classroom demonstration.</a:t>
            </a:r>
          </a:p>
        </p:txBody>
      </p:sp>
      <p:sp>
        <p:nvSpPr>
          <p:cNvPr id="9" name="Rounded Rectangle 8"/>
          <p:cNvSpPr/>
          <p:nvPr/>
        </p:nvSpPr>
        <p:spPr>
          <a:xfrm>
            <a:off x="777240" y="256032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79191"/>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ELDERLY PEOPLE</a:t>
            </a:r>
          </a:p>
        </p:txBody>
      </p:sp>
      <p:sp>
        <p:nvSpPr>
          <p:cNvPr id="11" name="TextBox 10"/>
          <p:cNvSpPr txBox="1"/>
          <p:nvPr/>
        </p:nvSpPr>
        <p:spPr>
          <a:xfrm>
            <a:off x="932688" y="3099815"/>
            <a:ext cx="4855464" cy="475488"/>
          </a:xfrm>
          <a:prstGeom prst="rect">
            <a:avLst/>
          </a:prstGeom>
          <a:noFill/>
        </p:spPr>
        <p:txBody>
          <a:bodyPr wrap="square" lIns="36576" rIns="36576" tIns="27432">
            <a:normAutofit/>
          </a:bodyPr>
          <a:lstStyle/>
          <a:p>
            <a:r>
              <a:rPr sz="1050"/>
              <a:t>May forget timing, confuse medicine names, or struggle with small text and English prompts. A loud or unclear alert may also be missed. Large labels, familiar Tamil audio, and a simple repeatable routine can improve accessibility.</a:t>
            </a:r>
          </a:p>
        </p:txBody>
      </p:sp>
      <p:sp>
        <p:nvSpPr>
          <p:cNvPr id="12" name="Rounded Rectangle 11"/>
          <p:cNvSpPr/>
          <p:nvPr/>
        </p:nvSpPr>
        <p:spPr>
          <a:xfrm>
            <a:off x="6355080" y="256032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679191"/>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CAREGIVERS</a:t>
            </a:r>
          </a:p>
        </p:txBody>
      </p:sp>
      <p:sp>
        <p:nvSpPr>
          <p:cNvPr id="14" name="TextBox 13"/>
          <p:cNvSpPr txBox="1"/>
          <p:nvPr/>
        </p:nvSpPr>
        <p:spPr>
          <a:xfrm>
            <a:off x="6510528" y="3099815"/>
            <a:ext cx="4855464" cy="475488"/>
          </a:xfrm>
          <a:prstGeom prst="rect">
            <a:avLst/>
          </a:prstGeom>
          <a:noFill/>
        </p:spPr>
        <p:txBody>
          <a:bodyPr wrap="square" lIns="36576" rIns="36576" tIns="27432">
            <a:normAutofit/>
          </a:bodyPr>
          <a:lstStyle/>
          <a:p>
            <a:r>
              <a:rPr sz="1050"/>
              <a:t>Cannot watch 24/7; confirming each dose manually takes time. Family members may need to check in by phone or visit in person. A missed-event notification can help them follow up, provided the device has power and connectivity.</a:t>
            </a:r>
          </a:p>
        </p:txBody>
      </p:sp>
      <p:sp>
        <p:nvSpPr>
          <p:cNvPr id="15" name="Rounded Rectangle 14"/>
          <p:cNvSpPr/>
          <p:nvPr/>
        </p:nvSpPr>
        <p:spPr>
          <a:xfrm>
            <a:off x="777240" y="3566160"/>
            <a:ext cx="5166360" cy="9601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85032"/>
            <a:ext cx="4855464" cy="365760"/>
          </a:xfrm>
          <a:prstGeom prst="rect">
            <a:avLst/>
          </a:prstGeom>
          <a:noFill/>
        </p:spPr>
        <p:txBody>
          <a:bodyPr wrap="square" lIns="36576" rIns="36576" tIns="27432">
            <a:spAutoFit/>
          </a:bodyPr>
          <a:lstStyle/>
          <a:p>
            <a:pPr>
              <a:spcAft>
                <a:spcPts val="700"/>
              </a:spcAft>
              <a:defRPr sz="1400" b="1">
                <a:solidFill>
                  <a:srgbClr val="19968E"/>
                </a:solidFill>
                <a:latin typeface="Aptos"/>
              </a:defRPr>
            </a:pPr>
            <a:r>
              <a:t>SAFETY CONCERNS</a:t>
            </a:r>
          </a:p>
        </p:txBody>
      </p:sp>
      <p:sp>
        <p:nvSpPr>
          <p:cNvPr id="17" name="TextBox 16"/>
          <p:cNvSpPr txBox="1"/>
          <p:nvPr/>
        </p:nvSpPr>
        <p:spPr>
          <a:xfrm>
            <a:off x="932688" y="4105656"/>
            <a:ext cx="4855464" cy="475488"/>
          </a:xfrm>
          <a:prstGeom prst="rect">
            <a:avLst/>
          </a:prstGeom>
          <a:noFill/>
        </p:spPr>
        <p:txBody>
          <a:bodyPr wrap="square" lIns="36576" rIns="36576" tIns="27432">
            <a:normAutofit/>
          </a:bodyPr>
          <a:lstStyle/>
          <a:p>
            <a:r>
              <a:rPr sz="1050"/>
              <a:t>Missed doses, accidental duplicate doses, or the wrong compartment being selected can affect medication routines. The device must avoid presenting another dose repeatedly, provide a clear status, and include a manual stop/reset procedure.</a:t>
            </a:r>
          </a:p>
        </p:txBody>
      </p:sp>
      <p:sp>
        <p:nvSpPr>
          <p:cNvPr id="18" name="Rounded Rectangle 17"/>
          <p:cNvSpPr/>
          <p:nvPr/>
        </p:nvSpPr>
        <p:spPr>
          <a:xfrm>
            <a:off x="6355080" y="3566160"/>
            <a:ext cx="5166360" cy="9601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685032"/>
            <a:ext cx="4855464" cy="365760"/>
          </a:xfrm>
          <a:prstGeom prst="rect">
            <a:avLst/>
          </a:prstGeom>
          <a:noFill/>
        </p:spPr>
        <p:txBody>
          <a:bodyPr wrap="square" lIns="36576" rIns="36576" tIns="27432">
            <a:spAutoFit/>
          </a:bodyPr>
          <a:lstStyle/>
          <a:p>
            <a:pPr>
              <a:spcAft>
                <a:spcPts val="700"/>
              </a:spcAft>
              <a:defRPr sz="1400" b="1">
                <a:solidFill>
                  <a:srgbClr val="EF8F2E"/>
                </a:solidFill>
                <a:latin typeface="Aptos"/>
              </a:defRPr>
            </a:pPr>
            <a:r>
              <a:t>ACCESSIBILITY</a:t>
            </a:r>
          </a:p>
        </p:txBody>
      </p:sp>
      <p:sp>
        <p:nvSpPr>
          <p:cNvPr id="20" name="TextBox 19"/>
          <p:cNvSpPr txBox="1"/>
          <p:nvPr/>
        </p:nvSpPr>
        <p:spPr>
          <a:xfrm>
            <a:off x="6510528" y="4105656"/>
            <a:ext cx="4855464" cy="475488"/>
          </a:xfrm>
          <a:prstGeom prst="rect">
            <a:avLst/>
          </a:prstGeom>
          <a:noFill/>
        </p:spPr>
        <p:txBody>
          <a:bodyPr wrap="square" lIns="36576" rIns="36576" tIns="27432">
            <a:normAutofit/>
          </a:bodyPr>
          <a:lstStyle/>
          <a:p>
            <a:r>
              <a:rPr sz="1050"/>
              <a:t>Large labels, clear indicators, Tamil voice reminders, and simple buttons are important. The interface should not rely only on colour, tiny text, or English audio. The reminder volume and wording should be tested with intended users.</a:t>
            </a:r>
          </a:p>
        </p:txBody>
      </p:sp>
      <p:sp>
        <p:nvSpPr>
          <p:cNvPr id="21" name="TextBox 20"/>
          <p:cNvSpPr txBox="1"/>
          <p:nvPr/>
        </p:nvSpPr>
        <p:spPr>
          <a:xfrm>
            <a:off x="868680" y="5897880"/>
            <a:ext cx="10515600" cy="502920"/>
          </a:xfrm>
          <a:prstGeom prst="rect">
            <a:avLst/>
          </a:prstGeom>
          <a:noFill/>
        </p:spPr>
        <p:txBody>
          <a:bodyPr wrap="square" lIns="36576" rIns="36576" tIns="27432">
            <a:normAutofit/>
          </a:bodyPr>
          <a:lstStyle/>
          <a:p>
            <a:r>
              <a:rPr sz="1200"/>
              <a:t>Design principle: make the device easy to understand, with clear feedback and caregiver-verified medicine setup.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199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04  •  PROPOSED SOLUTION</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Proposed Solution</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19968E"/>
                </a:solidFill>
                <a:latin typeface="Aptos"/>
              </a:defRPr>
            </a:pPr>
            <a:r>
              <a:t>SYNTAX SQUAD</a:t>
            </a:r>
          </a:p>
        </p:txBody>
      </p:sp>
      <p:sp>
        <p:nvSpPr>
          <p:cNvPr id="7" name="Rectangle 6"/>
          <p:cNvSpPr/>
          <p:nvPr/>
        </p:nvSpPr>
        <p:spPr>
          <a:xfrm>
            <a:off x="594360" y="1572768"/>
            <a:ext cx="10972800" cy="32004"/>
          </a:xfrm>
          <a:prstGeom prst="rect">
            <a:avLst/>
          </a:prstGeom>
          <a:solidFill>
            <a:srgbClr val="199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A scheduled medicine dispenser can help the user and caregiver follow a routine. It combines a programmed schedule, a controlled compartment mechanism, local reminders, and optional remote notification without assuming that the user understands English.</a:t>
            </a:r>
          </a:p>
        </p:txBody>
      </p:sp>
      <p:sp>
        <p:nvSpPr>
          <p:cNvPr id="9" name="Rounded Rectangle 8"/>
          <p:cNvSpPr/>
          <p:nvPr/>
        </p:nvSpPr>
        <p:spPr>
          <a:xfrm>
            <a:off x="777240" y="2743200"/>
            <a:ext cx="3429000" cy="23317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62072"/>
            <a:ext cx="3118104" cy="365760"/>
          </a:xfrm>
          <a:prstGeom prst="rect">
            <a:avLst/>
          </a:prstGeom>
          <a:noFill/>
        </p:spPr>
        <p:txBody>
          <a:bodyPr wrap="square" lIns="36576" rIns="36576" tIns="27432">
            <a:spAutoFit/>
          </a:bodyPr>
          <a:lstStyle/>
          <a:p>
            <a:pPr>
              <a:spcAft>
                <a:spcPts val="700"/>
              </a:spcAft>
              <a:defRPr sz="1600" b="1">
                <a:solidFill>
                  <a:srgbClr val="19968E"/>
                </a:solidFill>
                <a:latin typeface="Aptos"/>
              </a:defRPr>
            </a:pPr>
            <a:r>
              <a:t>AUTOMATIC DISPENSING</a:t>
            </a:r>
          </a:p>
        </p:txBody>
      </p:sp>
      <p:sp>
        <p:nvSpPr>
          <p:cNvPr id="11" name="TextBox 10"/>
          <p:cNvSpPr txBox="1"/>
          <p:nvPr/>
        </p:nvSpPr>
        <p:spPr>
          <a:xfrm>
            <a:off x="932688" y="3282696"/>
            <a:ext cx="3118104" cy="1719072"/>
          </a:xfrm>
          <a:prstGeom prst="rect">
            <a:avLst/>
          </a:prstGeom>
          <a:noFill/>
        </p:spPr>
        <p:txBody>
          <a:bodyPr wrap="square" lIns="36576" rIns="36576" tIns="27432">
            <a:normAutofit/>
          </a:bodyPr>
          <a:lstStyle/>
          <a:p>
            <a:r>
              <a:rPr sz="1300"/>
              <a:t>A motor opens the compartment assigned to a programmed dose time. A compartment may hold the tablets prescribed for that particular time. The caregiver labels and checks each compartment before use; the device does not identify tablets by itself.</a:t>
            </a:r>
          </a:p>
        </p:txBody>
      </p:sp>
      <p:sp>
        <p:nvSpPr>
          <p:cNvPr id="12" name="Rounded Rectangle 11"/>
          <p:cNvSpPr/>
          <p:nvPr/>
        </p:nvSpPr>
        <p:spPr>
          <a:xfrm>
            <a:off x="4553712" y="2743200"/>
            <a:ext cx="3429000" cy="23317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2862072"/>
            <a:ext cx="3118104" cy="365760"/>
          </a:xfrm>
          <a:prstGeom prst="rect">
            <a:avLst/>
          </a:prstGeom>
          <a:noFill/>
        </p:spPr>
        <p:txBody>
          <a:bodyPr wrap="square" lIns="36576" rIns="36576" tIns="27432">
            <a:spAutoFit/>
          </a:bodyPr>
          <a:lstStyle/>
          <a:p>
            <a:pPr>
              <a:spcAft>
                <a:spcPts val="700"/>
              </a:spcAft>
              <a:defRPr sz="1600" b="1">
                <a:solidFill>
                  <a:srgbClr val="6B36AA"/>
                </a:solidFill>
                <a:latin typeface="Aptos"/>
              </a:defRPr>
            </a:pPr>
            <a:r>
              <a:t>TAMIL REMINDER</a:t>
            </a:r>
          </a:p>
        </p:txBody>
      </p:sp>
      <p:sp>
        <p:nvSpPr>
          <p:cNvPr id="14" name="TextBox 13"/>
          <p:cNvSpPr txBox="1"/>
          <p:nvPr/>
        </p:nvSpPr>
        <p:spPr>
          <a:xfrm>
            <a:off x="4709159" y="3282696"/>
            <a:ext cx="3118104" cy="1719072"/>
          </a:xfrm>
          <a:prstGeom prst="rect">
            <a:avLst/>
          </a:prstGeom>
          <a:noFill/>
        </p:spPr>
        <p:txBody>
          <a:bodyPr wrap="square" lIns="36576" rIns="36576" tIns="27432">
            <a:normAutofit/>
          </a:bodyPr>
          <a:lstStyle/>
          <a:p>
            <a:r>
              <a:rPr sz="1300"/>
              <a:t>A speaker plays a pre-recorded Tamil reminder such as “மருந்து எடுத்துக்கொள்ளும் நேரம்.” The prompt can repeat after a short interval and be supported by an LED or buzzer. Additional languages can be recorded to match the user's needs.</a:t>
            </a:r>
          </a:p>
        </p:txBody>
      </p:sp>
      <p:sp>
        <p:nvSpPr>
          <p:cNvPr id="15" name="Rounded Rectangle 14"/>
          <p:cNvSpPr/>
          <p:nvPr/>
        </p:nvSpPr>
        <p:spPr>
          <a:xfrm>
            <a:off x="8330183" y="2743200"/>
            <a:ext cx="3429000" cy="23317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2862072"/>
            <a:ext cx="3118104" cy="365760"/>
          </a:xfrm>
          <a:prstGeom prst="rect">
            <a:avLst/>
          </a:prstGeom>
          <a:noFill/>
        </p:spPr>
        <p:txBody>
          <a:bodyPr wrap="square" lIns="36576" rIns="36576" tIns="27432">
            <a:spAutoFit/>
          </a:bodyPr>
          <a:lstStyle/>
          <a:p>
            <a:pPr>
              <a:spcAft>
                <a:spcPts val="700"/>
              </a:spcAft>
              <a:defRPr sz="1600" b="1">
                <a:solidFill>
                  <a:srgbClr val="19968E"/>
                </a:solidFill>
                <a:latin typeface="Aptos"/>
              </a:defRPr>
            </a:pPr>
            <a:r>
              <a:t>CAREGIVER ALERT</a:t>
            </a:r>
          </a:p>
        </p:txBody>
      </p:sp>
      <p:sp>
        <p:nvSpPr>
          <p:cNvPr id="17" name="TextBox 16"/>
          <p:cNvSpPr txBox="1"/>
          <p:nvPr/>
        </p:nvSpPr>
        <p:spPr>
          <a:xfrm>
            <a:off x="8485632" y="3282696"/>
            <a:ext cx="3118104" cy="1719072"/>
          </a:xfrm>
          <a:prstGeom prst="rect">
            <a:avLst/>
          </a:prstGeom>
          <a:noFill/>
        </p:spPr>
        <p:txBody>
          <a:bodyPr wrap="square" lIns="36576" rIns="36576" tIns="27432">
            <a:normAutofit/>
          </a:bodyPr>
          <a:lstStyle/>
          <a:p>
            <a:r>
              <a:rPr sz="1300"/>
              <a:t>If collection is not detected within a configured window, the device can send an alert when connectivity is available. A local reminder should still operate without Wi-Fi. Collection detection only indicates a sensor event; it cannot prove the medicine was swallowed.</a:t>
            </a:r>
          </a:p>
        </p:txBody>
      </p:sp>
      <p:sp>
        <p:nvSpPr>
          <p:cNvPr id="18" name="TextBox 17"/>
          <p:cNvSpPr txBox="1"/>
          <p:nvPr/>
        </p:nvSpPr>
        <p:spPr>
          <a:xfrm>
            <a:off x="868680" y="5897880"/>
            <a:ext cx="10515600" cy="502920"/>
          </a:xfrm>
          <a:prstGeom prst="rect">
            <a:avLst/>
          </a:prstGeom>
          <a:noFill/>
        </p:spPr>
        <p:txBody>
          <a:bodyPr wrap="square" lIns="36576" rIns="36576" tIns="27432">
            <a:normAutofit/>
          </a:bodyPr>
          <a:lstStyle/>
          <a:p>
            <a:r>
              <a:rPr sz="1200"/>
              <a:t>Important: the caregiver must load and verify the medicine and schedule against the prescription. The dispenser supports reminders and controlled access; it does not replace advice from a doctor or pharmacist.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357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05  •  SYSTEM ARCHITECTURE</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System Architecture</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3573CA"/>
                </a:solidFill>
                <a:latin typeface="Aptos"/>
              </a:defRPr>
            </a:pPr>
            <a:r>
              <a:t>SYNTAX SQUAD</a:t>
            </a:r>
          </a:p>
        </p:txBody>
      </p:sp>
      <p:sp>
        <p:nvSpPr>
          <p:cNvPr id="7" name="Rectangle 6"/>
          <p:cNvSpPr/>
          <p:nvPr/>
        </p:nvSpPr>
        <p:spPr>
          <a:xfrm>
            <a:off x="594360" y="1572768"/>
            <a:ext cx="10972800" cy="32004"/>
          </a:xfrm>
          <a:prstGeom prst="rect">
            <a:avLst/>
          </a:prstGeom>
          <a:solidFill>
            <a:srgbClr val="357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Each module has a clear role in the dispensing and reminder process. Local timing, dispensing, and audible alerts form the core system; Wi-Fi is an optional layer for caregiver updates.</a:t>
            </a:r>
          </a:p>
        </p:txBody>
      </p:sp>
      <p:sp>
        <p:nvSpPr>
          <p:cNvPr id="9" name="Rounded Rectangle 8"/>
          <p:cNvSpPr/>
          <p:nvPr/>
        </p:nvSpPr>
        <p:spPr>
          <a:xfrm>
            <a:off x="777240" y="2560320"/>
            <a:ext cx="5166360" cy="960120"/>
          </a:xfrm>
          <a:prstGeom prst="roundRect">
            <a:avLst/>
          </a:prstGeom>
          <a:solidFill>
            <a:srgbClr val="FFFFFF"/>
          </a:solidFill>
          <a:ln w="17780">
            <a:solidFill>
              <a:srgbClr val="357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79191"/>
            <a:ext cx="4855464" cy="365760"/>
          </a:xfrm>
          <a:prstGeom prst="rect">
            <a:avLst/>
          </a:prstGeom>
          <a:noFill/>
        </p:spPr>
        <p:txBody>
          <a:bodyPr wrap="square" lIns="36576" rIns="36576" tIns="27432">
            <a:spAutoFit/>
          </a:bodyPr>
          <a:lstStyle/>
          <a:p>
            <a:pPr>
              <a:spcAft>
                <a:spcPts val="700"/>
              </a:spcAft>
              <a:defRPr sz="1400" b="1">
                <a:solidFill>
                  <a:srgbClr val="3573CA"/>
                </a:solidFill>
                <a:latin typeface="Aptos"/>
              </a:defRPr>
            </a:pPr>
            <a:r>
              <a:t>RTC DS3231</a:t>
            </a:r>
          </a:p>
        </p:txBody>
      </p:sp>
      <p:sp>
        <p:nvSpPr>
          <p:cNvPr id="11" name="TextBox 10"/>
          <p:cNvSpPr txBox="1"/>
          <p:nvPr/>
        </p:nvSpPr>
        <p:spPr>
          <a:xfrm>
            <a:off x="932688" y="3099815"/>
            <a:ext cx="4855464" cy="475488"/>
          </a:xfrm>
          <a:prstGeom prst="rect">
            <a:avLst/>
          </a:prstGeom>
          <a:noFill/>
        </p:spPr>
        <p:txBody>
          <a:bodyPr wrap="square" lIns="36576" rIns="36576" tIns="27432">
            <a:normAutofit/>
          </a:bodyPr>
          <a:lstStyle/>
          <a:p>
            <a:r>
              <a:rPr sz="1050"/>
              <a:t>Keeps the programmed schedule time and helps the controller determine when a dose is due. A real-time clock module can continue timekeeping during brief controller restarts when its backup battery is working.</a:t>
            </a:r>
          </a:p>
        </p:txBody>
      </p:sp>
      <p:sp>
        <p:nvSpPr>
          <p:cNvPr id="12" name="Rounded Rectangle 11"/>
          <p:cNvSpPr/>
          <p:nvPr/>
        </p:nvSpPr>
        <p:spPr>
          <a:xfrm>
            <a:off x="6355080" y="256032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679191"/>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ESP32 CONTROLLER</a:t>
            </a:r>
          </a:p>
        </p:txBody>
      </p:sp>
      <p:sp>
        <p:nvSpPr>
          <p:cNvPr id="14" name="TextBox 13"/>
          <p:cNvSpPr txBox="1"/>
          <p:nvPr/>
        </p:nvSpPr>
        <p:spPr>
          <a:xfrm>
            <a:off x="6510528" y="3099815"/>
            <a:ext cx="4855464" cy="475488"/>
          </a:xfrm>
          <a:prstGeom prst="rect">
            <a:avLst/>
          </a:prstGeom>
          <a:noFill/>
        </p:spPr>
        <p:txBody>
          <a:bodyPr wrap="square" lIns="36576" rIns="36576" tIns="27432">
            <a:normAutofit/>
          </a:bodyPr>
          <a:lstStyle/>
          <a:p>
            <a:r>
              <a:rPr sz="1050"/>
              <a:t>Reads the schedule, checks the current time, and controls the dispensing and reminder sequence. It can also manage optional Wi-Fi notifications. The system should show a fault instead of silently continuing if a key component fails.</a:t>
            </a:r>
          </a:p>
        </p:txBody>
      </p:sp>
      <p:sp>
        <p:nvSpPr>
          <p:cNvPr id="15" name="Rounded Rectangle 14"/>
          <p:cNvSpPr/>
          <p:nvPr/>
        </p:nvSpPr>
        <p:spPr>
          <a:xfrm>
            <a:off x="777240" y="3566160"/>
            <a:ext cx="5166360" cy="9601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85032"/>
            <a:ext cx="4855464" cy="365760"/>
          </a:xfrm>
          <a:prstGeom prst="rect">
            <a:avLst/>
          </a:prstGeom>
          <a:noFill/>
        </p:spPr>
        <p:txBody>
          <a:bodyPr wrap="square" lIns="36576" rIns="36576" tIns="27432">
            <a:spAutoFit/>
          </a:bodyPr>
          <a:lstStyle/>
          <a:p>
            <a:pPr>
              <a:spcAft>
                <a:spcPts val="700"/>
              </a:spcAft>
              <a:defRPr sz="1400" b="1">
                <a:solidFill>
                  <a:srgbClr val="19968E"/>
                </a:solidFill>
                <a:latin typeface="Aptos"/>
              </a:defRPr>
            </a:pPr>
            <a:r>
              <a:t>MOTOR / SERVO</a:t>
            </a:r>
          </a:p>
        </p:txBody>
      </p:sp>
      <p:sp>
        <p:nvSpPr>
          <p:cNvPr id="17" name="TextBox 16"/>
          <p:cNvSpPr txBox="1"/>
          <p:nvPr/>
        </p:nvSpPr>
        <p:spPr>
          <a:xfrm>
            <a:off x="932688" y="4105656"/>
            <a:ext cx="4855464" cy="475488"/>
          </a:xfrm>
          <a:prstGeom prst="rect">
            <a:avLst/>
          </a:prstGeom>
          <a:noFill/>
        </p:spPr>
        <p:txBody>
          <a:bodyPr wrap="square" lIns="36576" rIns="36576" tIns="27432">
            <a:normAutofit/>
          </a:bodyPr>
          <a:lstStyle/>
          <a:p>
            <a:r>
              <a:rPr sz="1050"/>
              <a:t>Opens a gate or rotates a compartment to present the scheduled dose. Mechanical stops, compartment alignment, and jam handling need testing so the wrong compartment is not presented. The design should include a safe manual recovery method.</a:t>
            </a:r>
          </a:p>
        </p:txBody>
      </p:sp>
      <p:sp>
        <p:nvSpPr>
          <p:cNvPr id="18" name="Rounded Rectangle 17"/>
          <p:cNvSpPr/>
          <p:nvPr/>
        </p:nvSpPr>
        <p:spPr>
          <a:xfrm>
            <a:off x="6355080" y="3566160"/>
            <a:ext cx="5166360" cy="9601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685032"/>
            <a:ext cx="4855464" cy="365760"/>
          </a:xfrm>
          <a:prstGeom prst="rect">
            <a:avLst/>
          </a:prstGeom>
          <a:noFill/>
        </p:spPr>
        <p:txBody>
          <a:bodyPr wrap="square" lIns="36576" rIns="36576" tIns="27432">
            <a:spAutoFit/>
          </a:bodyPr>
          <a:lstStyle/>
          <a:p>
            <a:pPr>
              <a:spcAft>
                <a:spcPts val="700"/>
              </a:spcAft>
              <a:defRPr sz="1400" b="1">
                <a:solidFill>
                  <a:srgbClr val="EF8F2E"/>
                </a:solidFill>
                <a:latin typeface="Aptos"/>
              </a:defRPr>
            </a:pPr>
            <a:r>
              <a:t>SENSOR + OUTPUT</a:t>
            </a:r>
          </a:p>
        </p:txBody>
      </p:sp>
      <p:sp>
        <p:nvSpPr>
          <p:cNvPr id="20" name="TextBox 19"/>
          <p:cNvSpPr txBox="1"/>
          <p:nvPr/>
        </p:nvSpPr>
        <p:spPr>
          <a:xfrm>
            <a:off x="6510528" y="4105656"/>
            <a:ext cx="4855464" cy="475488"/>
          </a:xfrm>
          <a:prstGeom prst="rect">
            <a:avLst/>
          </a:prstGeom>
          <a:noFill/>
        </p:spPr>
        <p:txBody>
          <a:bodyPr wrap="square" lIns="36576" rIns="36576" tIns="27432">
            <a:normAutofit/>
          </a:bodyPr>
          <a:lstStyle/>
          <a:p>
            <a:r>
              <a:rPr sz="1050"/>
              <a:t>A sensor can detect a configured event, such as a compartment opening or a dose being collected. LCD, LEDs, speaker, and buzzer provide feedback. A sensor event does not confirm that the user swallowed the medicine.</a:t>
            </a:r>
          </a:p>
        </p:txBody>
      </p:sp>
      <p:sp>
        <p:nvSpPr>
          <p:cNvPr id="21" name="TextBox 20"/>
          <p:cNvSpPr txBox="1"/>
          <p:nvPr/>
        </p:nvSpPr>
        <p:spPr>
          <a:xfrm>
            <a:off x="868680" y="5897880"/>
            <a:ext cx="10515600" cy="502920"/>
          </a:xfrm>
          <a:prstGeom prst="rect">
            <a:avLst/>
          </a:prstGeom>
          <a:noFill/>
        </p:spPr>
        <p:txBody>
          <a:bodyPr wrap="square" lIns="36576" rIns="36576" tIns="27432">
            <a:normAutofit/>
          </a:bodyPr>
          <a:lstStyle/>
          <a:p>
            <a:r>
              <a:rPr sz="1200"/>
              <a:t>Flow: Caregiver setup → Schedule check → Correct compartment → Tamil reminder → Collection check → Local record / caregiver alert.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199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06  •  HOW IT WORKS</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How It Works</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19968E"/>
                </a:solidFill>
                <a:latin typeface="Aptos"/>
              </a:defRPr>
            </a:pPr>
            <a:r>
              <a:t>SYNTAX SQUAD</a:t>
            </a:r>
          </a:p>
        </p:txBody>
      </p:sp>
      <p:sp>
        <p:nvSpPr>
          <p:cNvPr id="7" name="Rectangle 6"/>
          <p:cNvSpPr/>
          <p:nvPr/>
        </p:nvSpPr>
        <p:spPr>
          <a:xfrm>
            <a:off x="594360" y="1572768"/>
            <a:ext cx="10972800" cy="32004"/>
          </a:xfrm>
          <a:prstGeom prst="rect">
            <a:avLst/>
          </a:prstGeom>
          <a:solidFill>
            <a:srgbClr val="199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From loading the medicine to notifying the caregiver, the system follows a repeatable sequence. Every dose must be mapped to a specific compartment and time before the device is used.</a:t>
            </a:r>
          </a:p>
        </p:txBody>
      </p:sp>
      <p:sp>
        <p:nvSpPr>
          <p:cNvPr id="9" name="Rounded Rectangle 8"/>
          <p:cNvSpPr/>
          <p:nvPr/>
        </p:nvSpPr>
        <p:spPr>
          <a:xfrm>
            <a:off x="777240" y="2560320"/>
            <a:ext cx="5166360" cy="9601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79191"/>
            <a:ext cx="4855464" cy="365760"/>
          </a:xfrm>
          <a:prstGeom prst="rect">
            <a:avLst/>
          </a:prstGeom>
          <a:noFill/>
        </p:spPr>
        <p:txBody>
          <a:bodyPr wrap="square" lIns="36576" rIns="36576" tIns="27432">
            <a:spAutoFit/>
          </a:bodyPr>
          <a:lstStyle/>
          <a:p>
            <a:pPr>
              <a:spcAft>
                <a:spcPts val="700"/>
              </a:spcAft>
              <a:defRPr sz="1400" b="1">
                <a:solidFill>
                  <a:srgbClr val="19968E"/>
                </a:solidFill>
                <a:latin typeface="Aptos"/>
              </a:defRPr>
            </a:pPr>
            <a:r>
              <a:t>1. LOAD &amp; SET</a:t>
            </a:r>
          </a:p>
        </p:txBody>
      </p:sp>
      <p:sp>
        <p:nvSpPr>
          <p:cNvPr id="11" name="TextBox 10"/>
          <p:cNvSpPr txBox="1"/>
          <p:nvPr/>
        </p:nvSpPr>
        <p:spPr>
          <a:xfrm>
            <a:off x="932688" y="3099815"/>
            <a:ext cx="4855464" cy="475488"/>
          </a:xfrm>
          <a:prstGeom prst="rect">
            <a:avLst/>
          </a:prstGeom>
          <a:noFill/>
        </p:spPr>
        <p:txBody>
          <a:bodyPr wrap="square" lIns="36576" rIns="36576" tIns="27432">
            <a:normAutofit/>
          </a:bodyPr>
          <a:lstStyle/>
          <a:p>
            <a:r>
              <a:rPr sz="1050"/>
              <a:t>Caregiver loads labelled compartments using the prescription and verifies medicine name, quantity, and time. Use one compartment per prescribed dose time where practical. Recheck the setup after refilling and keep medicines stored safely.</a:t>
            </a:r>
          </a:p>
        </p:txBody>
      </p:sp>
      <p:sp>
        <p:nvSpPr>
          <p:cNvPr id="12" name="Rounded Rectangle 11"/>
          <p:cNvSpPr/>
          <p:nvPr/>
        </p:nvSpPr>
        <p:spPr>
          <a:xfrm>
            <a:off x="6355080" y="256032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679191"/>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2. CHECK TIME</a:t>
            </a:r>
          </a:p>
        </p:txBody>
      </p:sp>
      <p:sp>
        <p:nvSpPr>
          <p:cNvPr id="14" name="TextBox 13"/>
          <p:cNvSpPr txBox="1"/>
          <p:nvPr/>
        </p:nvSpPr>
        <p:spPr>
          <a:xfrm>
            <a:off x="6510528" y="3099815"/>
            <a:ext cx="4855464" cy="475488"/>
          </a:xfrm>
          <a:prstGeom prst="rect">
            <a:avLst/>
          </a:prstGeom>
          <a:noFill/>
        </p:spPr>
        <p:txBody>
          <a:bodyPr wrap="square" lIns="36576" rIns="36576" tIns="27432">
            <a:normAutofit/>
          </a:bodyPr>
          <a:lstStyle/>
          <a:p>
            <a:r>
              <a:rPr sz="1050"/>
              <a:t>The RTC maintains the time while the ESP32 checks the programmed schedule. When a dose becomes due, the controller selects the assigned compartment and starts the reminder sequence. Schedule changes should be made by an authorised caregiver.</a:t>
            </a:r>
          </a:p>
        </p:txBody>
      </p:sp>
      <p:sp>
        <p:nvSpPr>
          <p:cNvPr id="15" name="Rounded Rectangle 14"/>
          <p:cNvSpPr/>
          <p:nvPr/>
        </p:nvSpPr>
        <p:spPr>
          <a:xfrm>
            <a:off x="777240" y="3566160"/>
            <a:ext cx="5166360" cy="9601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85032"/>
            <a:ext cx="4855464" cy="365760"/>
          </a:xfrm>
          <a:prstGeom prst="rect">
            <a:avLst/>
          </a:prstGeom>
          <a:noFill/>
        </p:spPr>
        <p:txBody>
          <a:bodyPr wrap="square" lIns="36576" rIns="36576" tIns="27432">
            <a:spAutoFit/>
          </a:bodyPr>
          <a:lstStyle/>
          <a:p>
            <a:pPr>
              <a:spcAft>
                <a:spcPts val="700"/>
              </a:spcAft>
              <a:defRPr sz="1400" b="1">
                <a:solidFill>
                  <a:srgbClr val="19968E"/>
                </a:solidFill>
                <a:latin typeface="Aptos"/>
              </a:defRPr>
            </a:pPr>
            <a:r>
              <a:t>3. DISPENSE &amp; REMIND</a:t>
            </a:r>
          </a:p>
        </p:txBody>
      </p:sp>
      <p:sp>
        <p:nvSpPr>
          <p:cNvPr id="17" name="TextBox 16"/>
          <p:cNvSpPr txBox="1"/>
          <p:nvPr/>
        </p:nvSpPr>
        <p:spPr>
          <a:xfrm>
            <a:off x="932688" y="4105656"/>
            <a:ext cx="4855464" cy="475488"/>
          </a:xfrm>
          <a:prstGeom prst="rect">
            <a:avLst/>
          </a:prstGeom>
          <a:noFill/>
        </p:spPr>
        <p:txBody>
          <a:bodyPr wrap="square" lIns="36576" rIns="36576" tIns="27432">
            <a:normAutofit/>
          </a:bodyPr>
          <a:lstStyle/>
          <a:p>
            <a:r>
              <a:rPr sz="1050"/>
              <a:t>The motor presents the assigned dose; a recorded Tamil voice prompt and LED/buzzer remind the user. The message should state the action clearly, use familiar words, and repeat according to a configured rule without confusing the next dose.</a:t>
            </a:r>
          </a:p>
        </p:txBody>
      </p:sp>
      <p:sp>
        <p:nvSpPr>
          <p:cNvPr id="18" name="Rounded Rectangle 17"/>
          <p:cNvSpPr/>
          <p:nvPr/>
        </p:nvSpPr>
        <p:spPr>
          <a:xfrm>
            <a:off x="6355080" y="3566160"/>
            <a:ext cx="5166360" cy="9601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685032"/>
            <a:ext cx="4855464" cy="365760"/>
          </a:xfrm>
          <a:prstGeom prst="rect">
            <a:avLst/>
          </a:prstGeom>
          <a:noFill/>
        </p:spPr>
        <p:txBody>
          <a:bodyPr wrap="square" lIns="36576" rIns="36576" tIns="27432">
            <a:spAutoFit/>
          </a:bodyPr>
          <a:lstStyle/>
          <a:p>
            <a:pPr>
              <a:spcAft>
                <a:spcPts val="700"/>
              </a:spcAft>
              <a:defRPr sz="1400" b="1">
                <a:solidFill>
                  <a:srgbClr val="EF8F2E"/>
                </a:solidFill>
                <a:latin typeface="Aptos"/>
              </a:defRPr>
            </a:pPr>
            <a:r>
              <a:t>4. CONFIRM OR ALERT</a:t>
            </a:r>
          </a:p>
        </p:txBody>
      </p:sp>
      <p:sp>
        <p:nvSpPr>
          <p:cNvPr id="20" name="TextBox 19"/>
          <p:cNvSpPr txBox="1"/>
          <p:nvPr/>
        </p:nvSpPr>
        <p:spPr>
          <a:xfrm>
            <a:off x="6510528" y="4105656"/>
            <a:ext cx="4855464" cy="475488"/>
          </a:xfrm>
          <a:prstGeom prst="rect">
            <a:avLst/>
          </a:prstGeom>
          <a:noFill/>
        </p:spPr>
        <p:txBody>
          <a:bodyPr wrap="square" lIns="36576" rIns="36576" tIns="27432">
            <a:normAutofit/>
          </a:bodyPr>
          <a:lstStyle/>
          <a:p>
            <a:r>
              <a:rPr sz="1050"/>
              <a:t>A sensor checks whether the expected pickup or compartment event occurs. If no event is detected within the allowed time, the system can repeat the reminder and notify the caregiver. A log should distinguish 'dispensed', 'collected', and 'missed/unknown'.</a:t>
            </a:r>
          </a:p>
        </p:txBody>
      </p:sp>
      <p:sp>
        <p:nvSpPr>
          <p:cNvPr id="21" name="TextBox 20"/>
          <p:cNvSpPr txBox="1"/>
          <p:nvPr/>
        </p:nvSpPr>
        <p:spPr>
          <a:xfrm>
            <a:off x="868680" y="5897880"/>
            <a:ext cx="10515600" cy="502920"/>
          </a:xfrm>
          <a:prstGeom prst="rect">
            <a:avLst/>
          </a:prstGeom>
          <a:noFill/>
        </p:spPr>
        <p:txBody>
          <a:bodyPr wrap="square" lIns="36576" rIns="36576" tIns="27432">
            <a:normAutofit/>
          </a:bodyPr>
          <a:lstStyle/>
          <a:p>
            <a:r>
              <a:rPr sz="1200"/>
              <a:t>Safety note: sensor confirmation means the device detected an event; it does not prove the medicine was swallowed. Never use the prototype to change a prescription or dispense unverified medication.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EF8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07  •  HARDWARE COMPONENTS</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Hardware Components</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EF8F2E"/>
                </a:solidFill>
                <a:latin typeface="Aptos"/>
              </a:defRPr>
            </a:pPr>
            <a:r>
              <a:t>SYNTAX SQUAD</a:t>
            </a:r>
          </a:p>
        </p:txBody>
      </p:sp>
      <p:sp>
        <p:nvSpPr>
          <p:cNvPr id="7" name="Rectangle 6"/>
          <p:cNvSpPr/>
          <p:nvPr/>
        </p:nvSpPr>
        <p:spPr>
          <a:xfrm>
            <a:off x="594360" y="1572768"/>
            <a:ext cx="10972800" cy="32004"/>
          </a:xfrm>
          <a:prstGeom prst="rect">
            <a:avLst/>
          </a:prstGeom>
          <a:solidFill>
            <a:srgbClr val="EF8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The prototype combines a controller, timing module, dispensing mechanism, user feedback, and a power supply. Choose parts according to the actual mechanism and verify voltage/current compatibility before connecting them.</a:t>
            </a:r>
          </a:p>
        </p:txBody>
      </p:sp>
      <p:sp>
        <p:nvSpPr>
          <p:cNvPr id="9" name="Rounded Rectangle 8"/>
          <p:cNvSpPr/>
          <p:nvPr/>
        </p:nvSpPr>
        <p:spPr>
          <a:xfrm>
            <a:off x="777240" y="2560320"/>
            <a:ext cx="5166360" cy="9601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79191"/>
            <a:ext cx="4855464" cy="365760"/>
          </a:xfrm>
          <a:prstGeom prst="rect">
            <a:avLst/>
          </a:prstGeom>
          <a:noFill/>
        </p:spPr>
        <p:txBody>
          <a:bodyPr wrap="square" lIns="36576" rIns="36576" tIns="27432">
            <a:spAutoFit/>
          </a:bodyPr>
          <a:lstStyle/>
          <a:p>
            <a:pPr>
              <a:spcAft>
                <a:spcPts val="700"/>
              </a:spcAft>
              <a:defRPr sz="1400" b="1">
                <a:solidFill>
                  <a:srgbClr val="EF8F2E"/>
                </a:solidFill>
                <a:latin typeface="Aptos"/>
              </a:defRPr>
            </a:pPr>
            <a:r>
              <a:t>ESP32</a:t>
            </a:r>
          </a:p>
        </p:txBody>
      </p:sp>
      <p:sp>
        <p:nvSpPr>
          <p:cNvPr id="11" name="TextBox 10"/>
          <p:cNvSpPr txBox="1"/>
          <p:nvPr/>
        </p:nvSpPr>
        <p:spPr>
          <a:xfrm>
            <a:off x="932688" y="3099815"/>
            <a:ext cx="4855464" cy="475488"/>
          </a:xfrm>
          <a:prstGeom prst="rect">
            <a:avLst/>
          </a:prstGeom>
          <a:noFill/>
        </p:spPr>
        <p:txBody>
          <a:bodyPr wrap="square" lIns="36576" rIns="36576" tIns="27432">
            <a:normAutofit/>
          </a:bodyPr>
          <a:lstStyle/>
          <a:p>
            <a:r>
              <a:rPr sz="1050"/>
              <a:t>Main controller for schedule logic, sensor inputs, display and motor control, and optional Wi-Fi alerts. Firmware should include a clear state machine, error handling, and a way to stop movement during testing.</a:t>
            </a:r>
          </a:p>
        </p:txBody>
      </p:sp>
      <p:sp>
        <p:nvSpPr>
          <p:cNvPr id="12" name="Rounded Rectangle 11"/>
          <p:cNvSpPr/>
          <p:nvPr/>
        </p:nvSpPr>
        <p:spPr>
          <a:xfrm>
            <a:off x="6355080" y="256032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679191"/>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RTC DS3231</a:t>
            </a:r>
          </a:p>
        </p:txBody>
      </p:sp>
      <p:sp>
        <p:nvSpPr>
          <p:cNvPr id="14" name="TextBox 13"/>
          <p:cNvSpPr txBox="1"/>
          <p:nvPr/>
        </p:nvSpPr>
        <p:spPr>
          <a:xfrm>
            <a:off x="6510528" y="3099815"/>
            <a:ext cx="4855464" cy="475488"/>
          </a:xfrm>
          <a:prstGeom prst="rect">
            <a:avLst/>
          </a:prstGeom>
          <a:noFill/>
        </p:spPr>
        <p:txBody>
          <a:bodyPr wrap="square" lIns="36576" rIns="36576" tIns="27432">
            <a:normAutofit/>
          </a:bodyPr>
          <a:lstStyle/>
          <a:p>
            <a:r>
              <a:rPr sz="1050"/>
              <a:t>Maintains scheduled time independently of the main controller when backup power is available. The schedule should be checked after power loss, and the caregiver should be warned if the time or stored schedule cannot be trusted.</a:t>
            </a:r>
          </a:p>
        </p:txBody>
      </p:sp>
      <p:sp>
        <p:nvSpPr>
          <p:cNvPr id="15" name="Rounded Rectangle 14"/>
          <p:cNvSpPr/>
          <p:nvPr/>
        </p:nvSpPr>
        <p:spPr>
          <a:xfrm>
            <a:off x="777240" y="3566160"/>
            <a:ext cx="5166360" cy="9601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85032"/>
            <a:ext cx="4855464" cy="365760"/>
          </a:xfrm>
          <a:prstGeom prst="rect">
            <a:avLst/>
          </a:prstGeom>
          <a:noFill/>
        </p:spPr>
        <p:txBody>
          <a:bodyPr wrap="square" lIns="36576" rIns="36576" tIns="27432">
            <a:spAutoFit/>
          </a:bodyPr>
          <a:lstStyle/>
          <a:p>
            <a:pPr>
              <a:spcAft>
                <a:spcPts val="700"/>
              </a:spcAft>
              <a:defRPr sz="1400" b="1">
                <a:solidFill>
                  <a:srgbClr val="19968E"/>
                </a:solidFill>
                <a:latin typeface="Aptos"/>
              </a:defRPr>
            </a:pPr>
            <a:r>
              <a:t>SERVO / MOTOR</a:t>
            </a:r>
          </a:p>
        </p:txBody>
      </p:sp>
      <p:sp>
        <p:nvSpPr>
          <p:cNvPr id="17" name="TextBox 16"/>
          <p:cNvSpPr txBox="1"/>
          <p:nvPr/>
        </p:nvSpPr>
        <p:spPr>
          <a:xfrm>
            <a:off x="932688" y="4105656"/>
            <a:ext cx="4855464" cy="475488"/>
          </a:xfrm>
          <a:prstGeom prst="rect">
            <a:avLst/>
          </a:prstGeom>
          <a:noFill/>
        </p:spPr>
        <p:txBody>
          <a:bodyPr wrap="square" lIns="36576" rIns="36576" tIns="27432">
            <a:normAutofit/>
          </a:bodyPr>
          <a:lstStyle/>
          <a:p>
            <a:r>
              <a:rPr sz="1050"/>
              <a:t>Moves a gate or rotates a compartment to present the scheduled dose. Select torque and travel based on the physical tray; test alignment and avoid exposing moving parts that could pinch fingers or spill tablets.</a:t>
            </a:r>
          </a:p>
        </p:txBody>
      </p:sp>
      <p:sp>
        <p:nvSpPr>
          <p:cNvPr id="18" name="Rounded Rectangle 17"/>
          <p:cNvSpPr/>
          <p:nvPr/>
        </p:nvSpPr>
        <p:spPr>
          <a:xfrm>
            <a:off x="6355080" y="3566160"/>
            <a:ext cx="5166360" cy="9601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685032"/>
            <a:ext cx="4855464" cy="365760"/>
          </a:xfrm>
          <a:prstGeom prst="rect">
            <a:avLst/>
          </a:prstGeom>
          <a:noFill/>
        </p:spPr>
        <p:txBody>
          <a:bodyPr wrap="square" lIns="36576" rIns="36576" tIns="27432">
            <a:spAutoFit/>
          </a:bodyPr>
          <a:lstStyle/>
          <a:p>
            <a:pPr>
              <a:spcAft>
                <a:spcPts val="700"/>
              </a:spcAft>
              <a:defRPr sz="1400" b="1">
                <a:solidFill>
                  <a:srgbClr val="EF8F2E"/>
                </a:solidFill>
                <a:latin typeface="Aptos"/>
              </a:defRPr>
            </a:pPr>
            <a:r>
              <a:t>LCD + AUDIO</a:t>
            </a:r>
          </a:p>
        </p:txBody>
      </p:sp>
      <p:sp>
        <p:nvSpPr>
          <p:cNvPr id="20" name="TextBox 19"/>
          <p:cNvSpPr txBox="1"/>
          <p:nvPr/>
        </p:nvSpPr>
        <p:spPr>
          <a:xfrm>
            <a:off x="6510528" y="4105656"/>
            <a:ext cx="4855464" cy="475488"/>
          </a:xfrm>
          <a:prstGeom prst="rect">
            <a:avLst/>
          </a:prstGeom>
          <a:noFill/>
        </p:spPr>
        <p:txBody>
          <a:bodyPr wrap="square" lIns="36576" rIns="36576" tIns="27432">
            <a:normAutofit/>
          </a:bodyPr>
          <a:lstStyle/>
          <a:p>
            <a:r>
              <a:rPr sz="1050"/>
              <a:t>LCD shows dose time, system status, and simple instructions. A speaker plays recorded Tamil reminders; LED/buzzer provide a visible and audible alert. Important warnings should not rely on audio alone.</a:t>
            </a:r>
          </a:p>
        </p:txBody>
      </p:sp>
      <p:sp>
        <p:nvSpPr>
          <p:cNvPr id="21" name="Rounded Rectangle 20"/>
          <p:cNvSpPr/>
          <p:nvPr/>
        </p:nvSpPr>
        <p:spPr>
          <a:xfrm>
            <a:off x="777240" y="4572000"/>
            <a:ext cx="5166360" cy="960120"/>
          </a:xfrm>
          <a:prstGeom prst="roundRect">
            <a:avLst/>
          </a:prstGeom>
          <a:solidFill>
            <a:srgbClr val="FFFFFF"/>
          </a:solidFill>
          <a:ln w="17780">
            <a:solidFill>
              <a:srgbClr val="357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690872"/>
            <a:ext cx="4855464" cy="365760"/>
          </a:xfrm>
          <a:prstGeom prst="rect">
            <a:avLst/>
          </a:prstGeom>
          <a:noFill/>
        </p:spPr>
        <p:txBody>
          <a:bodyPr wrap="square" lIns="36576" rIns="36576" tIns="27432">
            <a:spAutoFit/>
          </a:bodyPr>
          <a:lstStyle/>
          <a:p>
            <a:pPr>
              <a:spcAft>
                <a:spcPts val="700"/>
              </a:spcAft>
              <a:defRPr sz="1400" b="1">
                <a:solidFill>
                  <a:srgbClr val="3573CA"/>
                </a:solidFill>
                <a:latin typeface="Aptos"/>
              </a:defRPr>
            </a:pPr>
            <a:r>
              <a:t>IR / LOAD SENSOR</a:t>
            </a:r>
          </a:p>
        </p:txBody>
      </p:sp>
      <p:sp>
        <p:nvSpPr>
          <p:cNvPr id="23" name="TextBox 22"/>
          <p:cNvSpPr txBox="1"/>
          <p:nvPr/>
        </p:nvSpPr>
        <p:spPr>
          <a:xfrm>
            <a:off x="932688" y="5111496"/>
            <a:ext cx="4855464" cy="475488"/>
          </a:xfrm>
          <a:prstGeom prst="rect">
            <a:avLst/>
          </a:prstGeom>
          <a:noFill/>
        </p:spPr>
        <p:txBody>
          <a:bodyPr wrap="square" lIns="36576" rIns="36576" tIns="27432">
            <a:normAutofit/>
          </a:bodyPr>
          <a:lstStyle/>
          <a:p>
            <a:r>
              <a:rPr sz="1050"/>
              <a:t>An IR or load sensor can detect a compartment change or pickup event depending on placement. Sensor position and sensitivity must be tested with the actual tray. It cannot identify the medicine or confirm swallowing.</a:t>
            </a:r>
          </a:p>
        </p:txBody>
      </p:sp>
      <p:sp>
        <p:nvSpPr>
          <p:cNvPr id="24" name="Rounded Rectangle 23"/>
          <p:cNvSpPr/>
          <p:nvPr/>
        </p:nvSpPr>
        <p:spPr>
          <a:xfrm>
            <a:off x="6355080" y="457200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0528" y="4690872"/>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ENCLOSURE &amp; POWER</a:t>
            </a:r>
          </a:p>
        </p:txBody>
      </p:sp>
      <p:sp>
        <p:nvSpPr>
          <p:cNvPr id="26" name="TextBox 25"/>
          <p:cNvSpPr txBox="1"/>
          <p:nvPr/>
        </p:nvSpPr>
        <p:spPr>
          <a:xfrm>
            <a:off x="6510528" y="5111496"/>
            <a:ext cx="4855464" cy="475488"/>
          </a:xfrm>
          <a:prstGeom prst="rect">
            <a:avLst/>
          </a:prstGeom>
          <a:noFill/>
        </p:spPr>
        <p:txBody>
          <a:bodyPr wrap="square" lIns="36576" rIns="36576" tIns="27432">
            <a:normAutofit/>
          </a:bodyPr>
          <a:lstStyle/>
          <a:p>
            <a:r>
              <a:rPr sz="1050"/>
              <a:t>Use stable housing, separated and labelled dose compartments, safe wiring, and a suitable power supply. Include a manual stop/reset and accessible refill door; keep the prototype away from children and moisture.</a:t>
            </a:r>
          </a:p>
        </p:txBody>
      </p:sp>
      <p:sp>
        <p:nvSpPr>
          <p:cNvPr id="27" name="TextBox 26"/>
          <p:cNvSpPr txBox="1"/>
          <p:nvPr/>
        </p:nvSpPr>
        <p:spPr>
          <a:xfrm>
            <a:off x="868680" y="5897880"/>
            <a:ext cx="10515600" cy="502920"/>
          </a:xfrm>
          <a:prstGeom prst="rect">
            <a:avLst/>
          </a:prstGeom>
          <a:noFill/>
        </p:spPr>
        <p:txBody>
          <a:bodyPr wrap="square" lIns="36576" rIns="36576" tIns="27432">
            <a:normAutofit/>
          </a:bodyPr>
          <a:lstStyle/>
          <a:p>
            <a:r>
              <a:rPr sz="1200"/>
              <a:t>Prototype note: demonstrate with mock tablets first. Record motor alignment, missed events, sensor reliability, and power-restart behaviour before considering any real-medicine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357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08  •  PROOF – PROTOTYPE &amp; TESTING</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Proof – Prototype &amp; Testing</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3573CA"/>
                </a:solidFill>
                <a:latin typeface="Aptos"/>
              </a:defRPr>
            </a:pPr>
            <a:r>
              <a:t>SYNTAX SQUAD</a:t>
            </a:r>
          </a:p>
        </p:txBody>
      </p:sp>
      <p:sp>
        <p:nvSpPr>
          <p:cNvPr id="7" name="Rectangle 6"/>
          <p:cNvSpPr/>
          <p:nvPr/>
        </p:nvSpPr>
        <p:spPr>
          <a:xfrm>
            <a:off x="594360" y="1572768"/>
            <a:ext cx="10972800" cy="32004"/>
          </a:xfrm>
          <a:prstGeom prst="rect">
            <a:avLst/>
          </a:prstGeom>
          <a:solidFill>
            <a:srgbClr val="357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Show evidence that each function works; use real prototype photos, a test table, and measured results. This slide is a testing plan until the tests have actually been run.</a:t>
            </a:r>
          </a:p>
        </p:txBody>
      </p:sp>
      <p:sp>
        <p:nvSpPr>
          <p:cNvPr id="9" name="Rounded Rectangle 8"/>
          <p:cNvSpPr/>
          <p:nvPr/>
        </p:nvSpPr>
        <p:spPr>
          <a:xfrm>
            <a:off x="777240" y="2560320"/>
            <a:ext cx="5166360" cy="960120"/>
          </a:xfrm>
          <a:prstGeom prst="roundRect">
            <a:avLst/>
          </a:prstGeom>
          <a:solidFill>
            <a:srgbClr val="FFFFFF"/>
          </a:solidFill>
          <a:ln w="17780">
            <a:solidFill>
              <a:srgbClr val="357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79191"/>
            <a:ext cx="4855464" cy="365760"/>
          </a:xfrm>
          <a:prstGeom prst="rect">
            <a:avLst/>
          </a:prstGeom>
          <a:noFill/>
        </p:spPr>
        <p:txBody>
          <a:bodyPr wrap="square" lIns="36576" rIns="36576" tIns="27432">
            <a:spAutoFit/>
          </a:bodyPr>
          <a:lstStyle/>
          <a:p>
            <a:pPr>
              <a:spcAft>
                <a:spcPts val="700"/>
              </a:spcAft>
              <a:defRPr sz="1400" b="1">
                <a:solidFill>
                  <a:srgbClr val="3573CA"/>
                </a:solidFill>
                <a:latin typeface="Aptos"/>
              </a:defRPr>
            </a:pPr>
            <a:r>
              <a:t>TIME TEST</a:t>
            </a:r>
          </a:p>
        </p:txBody>
      </p:sp>
      <p:sp>
        <p:nvSpPr>
          <p:cNvPr id="11" name="TextBox 10"/>
          <p:cNvSpPr txBox="1"/>
          <p:nvPr/>
        </p:nvSpPr>
        <p:spPr>
          <a:xfrm>
            <a:off x="932688" y="3099815"/>
            <a:ext cx="4855464" cy="475488"/>
          </a:xfrm>
          <a:prstGeom prst="rect">
            <a:avLst/>
          </a:prstGeom>
          <a:noFill/>
        </p:spPr>
        <p:txBody>
          <a:bodyPr wrap="square" lIns="36576" rIns="36576" tIns="27432">
            <a:normAutofit/>
          </a:bodyPr>
          <a:lstStyle/>
          <a:p>
            <a:r>
              <a:rPr sz="1050"/>
              <a:t>Set a near-future dose time and confirm the controller triggers the correct sequence. Repeat at different times and after restarting the controller; record any clock drift or missed trigger.</a:t>
            </a:r>
          </a:p>
        </p:txBody>
      </p:sp>
      <p:sp>
        <p:nvSpPr>
          <p:cNvPr id="12" name="Rounded Rectangle 11"/>
          <p:cNvSpPr/>
          <p:nvPr/>
        </p:nvSpPr>
        <p:spPr>
          <a:xfrm>
            <a:off x="6355080" y="256032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679191"/>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SELECTION TEST</a:t>
            </a:r>
          </a:p>
        </p:txBody>
      </p:sp>
      <p:sp>
        <p:nvSpPr>
          <p:cNvPr id="14" name="TextBox 13"/>
          <p:cNvSpPr txBox="1"/>
          <p:nvPr/>
        </p:nvSpPr>
        <p:spPr>
          <a:xfrm>
            <a:off x="6510528" y="3099815"/>
            <a:ext cx="4855464" cy="475488"/>
          </a:xfrm>
          <a:prstGeom prst="rect">
            <a:avLst/>
          </a:prstGeom>
          <a:noFill/>
        </p:spPr>
        <p:txBody>
          <a:bodyPr wrap="square" lIns="36576" rIns="36576" tIns="27432">
            <a:normAutofit/>
          </a:bodyPr>
          <a:lstStyle/>
          <a:p>
            <a:r>
              <a:rPr sz="1050"/>
              <a:t>Program different compartments and verify the intended compartment opens each time. Check that the mechanism does not open two compartments or repeat the same dose unexpectedly.</a:t>
            </a:r>
          </a:p>
        </p:txBody>
      </p:sp>
      <p:sp>
        <p:nvSpPr>
          <p:cNvPr id="15" name="Rounded Rectangle 14"/>
          <p:cNvSpPr/>
          <p:nvPr/>
        </p:nvSpPr>
        <p:spPr>
          <a:xfrm>
            <a:off x="777240" y="3566160"/>
            <a:ext cx="5166360" cy="9601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685032"/>
            <a:ext cx="4855464" cy="365760"/>
          </a:xfrm>
          <a:prstGeom prst="rect">
            <a:avLst/>
          </a:prstGeom>
          <a:noFill/>
        </p:spPr>
        <p:txBody>
          <a:bodyPr wrap="square" lIns="36576" rIns="36576" tIns="27432">
            <a:spAutoFit/>
          </a:bodyPr>
          <a:lstStyle/>
          <a:p>
            <a:pPr>
              <a:spcAft>
                <a:spcPts val="700"/>
              </a:spcAft>
              <a:defRPr sz="1400" b="1">
                <a:solidFill>
                  <a:srgbClr val="19968E"/>
                </a:solidFill>
                <a:latin typeface="Aptos"/>
              </a:defRPr>
            </a:pPr>
            <a:r>
              <a:t>VOICE TEST</a:t>
            </a:r>
          </a:p>
        </p:txBody>
      </p:sp>
      <p:sp>
        <p:nvSpPr>
          <p:cNvPr id="17" name="TextBox 16"/>
          <p:cNvSpPr txBox="1"/>
          <p:nvPr/>
        </p:nvSpPr>
        <p:spPr>
          <a:xfrm>
            <a:off x="932688" y="4105656"/>
            <a:ext cx="4855464" cy="475488"/>
          </a:xfrm>
          <a:prstGeom prst="rect">
            <a:avLst/>
          </a:prstGeom>
          <a:noFill/>
        </p:spPr>
        <p:txBody>
          <a:bodyPr wrap="square" lIns="36576" rIns="36576" tIns="27432">
            <a:normAutofit/>
          </a:bodyPr>
          <a:lstStyle/>
          <a:p>
            <a:r>
              <a:rPr sz="1050"/>
              <a:t>Play a clear recorded Tamil reminder at the scheduled time. Test audibility at the user's normal seating distance and check that the wording is understandable to the intended user.</a:t>
            </a:r>
          </a:p>
        </p:txBody>
      </p:sp>
      <p:sp>
        <p:nvSpPr>
          <p:cNvPr id="18" name="Rounded Rectangle 17"/>
          <p:cNvSpPr/>
          <p:nvPr/>
        </p:nvSpPr>
        <p:spPr>
          <a:xfrm>
            <a:off x="6355080" y="3566160"/>
            <a:ext cx="5166360" cy="9601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685032"/>
            <a:ext cx="4855464" cy="365760"/>
          </a:xfrm>
          <a:prstGeom prst="rect">
            <a:avLst/>
          </a:prstGeom>
          <a:noFill/>
        </p:spPr>
        <p:txBody>
          <a:bodyPr wrap="square" lIns="36576" rIns="36576" tIns="27432">
            <a:spAutoFit/>
          </a:bodyPr>
          <a:lstStyle/>
          <a:p>
            <a:pPr>
              <a:spcAft>
                <a:spcPts val="700"/>
              </a:spcAft>
              <a:defRPr sz="1400" b="1">
                <a:solidFill>
                  <a:srgbClr val="EF8F2E"/>
                </a:solidFill>
                <a:latin typeface="Aptos"/>
              </a:defRPr>
            </a:pPr>
            <a:r>
              <a:t>SENSOR TEST</a:t>
            </a:r>
          </a:p>
        </p:txBody>
      </p:sp>
      <p:sp>
        <p:nvSpPr>
          <p:cNvPr id="20" name="TextBox 19"/>
          <p:cNvSpPr txBox="1"/>
          <p:nvPr/>
        </p:nvSpPr>
        <p:spPr>
          <a:xfrm>
            <a:off x="6510528" y="4105656"/>
            <a:ext cx="4855464" cy="475488"/>
          </a:xfrm>
          <a:prstGeom prst="rect">
            <a:avLst/>
          </a:prstGeom>
          <a:noFill/>
        </p:spPr>
        <p:txBody>
          <a:bodyPr wrap="square" lIns="36576" rIns="36576" tIns="27432">
            <a:normAutofit/>
          </a:bodyPr>
          <a:lstStyle/>
          <a:p>
            <a:r>
              <a:rPr sz="1050"/>
              <a:t>Remove a mock dose and check whether the sensor changes state. Repeat with different tray positions and lighting/weight conditions, depending on the sensor type, and note false detections.</a:t>
            </a:r>
          </a:p>
        </p:txBody>
      </p:sp>
      <p:sp>
        <p:nvSpPr>
          <p:cNvPr id="21" name="Rounded Rectangle 20"/>
          <p:cNvSpPr/>
          <p:nvPr/>
        </p:nvSpPr>
        <p:spPr>
          <a:xfrm>
            <a:off x="777240" y="4572000"/>
            <a:ext cx="5166360" cy="960120"/>
          </a:xfrm>
          <a:prstGeom prst="roundRect">
            <a:avLst/>
          </a:prstGeom>
          <a:solidFill>
            <a:srgbClr val="FFFFFF"/>
          </a:solidFill>
          <a:ln w="17780">
            <a:solidFill>
              <a:srgbClr val="357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690872"/>
            <a:ext cx="4855464" cy="365760"/>
          </a:xfrm>
          <a:prstGeom prst="rect">
            <a:avLst/>
          </a:prstGeom>
          <a:noFill/>
        </p:spPr>
        <p:txBody>
          <a:bodyPr wrap="square" lIns="36576" rIns="36576" tIns="27432">
            <a:spAutoFit/>
          </a:bodyPr>
          <a:lstStyle/>
          <a:p>
            <a:pPr>
              <a:spcAft>
                <a:spcPts val="700"/>
              </a:spcAft>
              <a:defRPr sz="1400" b="1">
                <a:solidFill>
                  <a:srgbClr val="3573CA"/>
                </a:solidFill>
                <a:latin typeface="Aptos"/>
              </a:defRPr>
            </a:pPr>
            <a:r>
              <a:t>MISSED-DOSE TEST</a:t>
            </a:r>
          </a:p>
        </p:txBody>
      </p:sp>
      <p:sp>
        <p:nvSpPr>
          <p:cNvPr id="23" name="TextBox 22"/>
          <p:cNvSpPr txBox="1"/>
          <p:nvPr/>
        </p:nvSpPr>
        <p:spPr>
          <a:xfrm>
            <a:off x="932688" y="5111496"/>
            <a:ext cx="4855464" cy="475488"/>
          </a:xfrm>
          <a:prstGeom prst="rect">
            <a:avLst/>
          </a:prstGeom>
          <a:noFill/>
        </p:spPr>
        <p:txBody>
          <a:bodyPr wrap="square" lIns="36576" rIns="36576" tIns="27432">
            <a:normAutofit/>
          </a:bodyPr>
          <a:lstStyle/>
          <a:p>
            <a:r>
              <a:rPr sz="1050"/>
              <a:t>Leave the sample dose untouched and check whether the configured reminder and caregiver alert trigger. Then test collection before the timeout to verify that unnecessary missed-dose alerts are avoided.</a:t>
            </a:r>
          </a:p>
        </p:txBody>
      </p:sp>
      <p:sp>
        <p:nvSpPr>
          <p:cNvPr id="24" name="Rounded Rectangle 23"/>
          <p:cNvSpPr/>
          <p:nvPr/>
        </p:nvSpPr>
        <p:spPr>
          <a:xfrm>
            <a:off x="6355080" y="4572000"/>
            <a:ext cx="5166360" cy="9601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0528" y="4690872"/>
            <a:ext cx="4855464" cy="365760"/>
          </a:xfrm>
          <a:prstGeom prst="rect">
            <a:avLst/>
          </a:prstGeom>
          <a:noFill/>
        </p:spPr>
        <p:txBody>
          <a:bodyPr wrap="square" lIns="36576" rIns="36576" tIns="27432">
            <a:spAutoFit/>
          </a:bodyPr>
          <a:lstStyle/>
          <a:p>
            <a:pPr>
              <a:spcAft>
                <a:spcPts val="700"/>
              </a:spcAft>
              <a:defRPr sz="1400" b="1">
                <a:solidFill>
                  <a:srgbClr val="6B36AA"/>
                </a:solidFill>
                <a:latin typeface="Aptos"/>
              </a:defRPr>
            </a:pPr>
            <a:r>
              <a:t>REPEATABILITY</a:t>
            </a:r>
          </a:p>
        </p:txBody>
      </p:sp>
      <p:sp>
        <p:nvSpPr>
          <p:cNvPr id="26" name="TextBox 25"/>
          <p:cNvSpPr txBox="1"/>
          <p:nvPr/>
        </p:nvSpPr>
        <p:spPr>
          <a:xfrm>
            <a:off x="6510528" y="5111496"/>
            <a:ext cx="4855464" cy="475488"/>
          </a:xfrm>
          <a:prstGeom prst="rect">
            <a:avLst/>
          </a:prstGeom>
          <a:noFill/>
        </p:spPr>
        <p:txBody>
          <a:bodyPr wrap="square" lIns="36576" rIns="36576" tIns="27432">
            <a:normAutofit/>
          </a:bodyPr>
          <a:lstStyle/>
          <a:p>
            <a:r>
              <a:rPr sz="1050"/>
              <a:t>Repeat multiple cycles and record successes, failures, jam events, and recovery steps. Also test Wi-Fi disconnection, low power, restart behaviour, and the local alarm without internet access.</a:t>
            </a:r>
          </a:p>
        </p:txBody>
      </p:sp>
      <p:sp>
        <p:nvSpPr>
          <p:cNvPr id="27" name="TextBox 26"/>
          <p:cNvSpPr txBox="1"/>
          <p:nvPr/>
        </p:nvSpPr>
        <p:spPr>
          <a:xfrm>
            <a:off x="868680" y="5897880"/>
            <a:ext cx="10515600" cy="502920"/>
          </a:xfrm>
          <a:prstGeom prst="rect">
            <a:avLst/>
          </a:prstGeom>
          <a:noFill/>
        </p:spPr>
        <p:txBody>
          <a:bodyPr wrap="square" lIns="36576" rIns="36576" tIns="27432">
            <a:normAutofit/>
          </a:bodyPr>
          <a:lstStyle/>
          <a:p>
            <a:r>
              <a:rPr sz="1200"/>
              <a:t>Only report tests as passed after running them. Add prototype photos, test counts, expected versus observed results, and limitations; do not present planned tests as completed proof.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6B3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09  •  BENEFITS &amp; IMPACT</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Benefits &amp; Impact</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6B36AA"/>
                </a:solidFill>
                <a:latin typeface="Aptos"/>
              </a:defRPr>
            </a:pPr>
            <a:r>
              <a:t>SYNTAX SQUAD</a:t>
            </a:r>
          </a:p>
        </p:txBody>
      </p:sp>
      <p:sp>
        <p:nvSpPr>
          <p:cNvPr id="7" name="Rectangle 6"/>
          <p:cNvSpPr/>
          <p:nvPr/>
        </p:nvSpPr>
        <p:spPr>
          <a:xfrm>
            <a:off x="594360" y="1572768"/>
            <a:ext cx="10972800" cy="32004"/>
          </a:xfrm>
          <a:prstGeom prst="rect">
            <a:avLst/>
          </a:prstGeom>
          <a:solidFill>
            <a:srgbClr val="6B3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The goal is to make medicine routines easier to follow and simpler for caregivers to monitor. Benefits must be demonstrated through usability and reliability testing rather than assumed from the concept alone.</a:t>
            </a:r>
          </a:p>
        </p:txBody>
      </p:sp>
      <p:sp>
        <p:nvSpPr>
          <p:cNvPr id="9" name="Rounded Rectangle 8"/>
          <p:cNvSpPr/>
          <p:nvPr/>
        </p:nvSpPr>
        <p:spPr>
          <a:xfrm>
            <a:off x="777240" y="2743200"/>
            <a:ext cx="3429000" cy="23317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62072"/>
            <a:ext cx="3118104" cy="365760"/>
          </a:xfrm>
          <a:prstGeom prst="rect">
            <a:avLst/>
          </a:prstGeom>
          <a:noFill/>
        </p:spPr>
        <p:txBody>
          <a:bodyPr wrap="square" lIns="36576" rIns="36576" tIns="27432">
            <a:spAutoFit/>
          </a:bodyPr>
          <a:lstStyle/>
          <a:p>
            <a:pPr>
              <a:spcAft>
                <a:spcPts val="700"/>
              </a:spcAft>
              <a:defRPr sz="1600" b="1">
                <a:solidFill>
                  <a:srgbClr val="6B36AA"/>
                </a:solidFill>
                <a:latin typeface="Aptos"/>
              </a:defRPr>
            </a:pPr>
            <a:r>
              <a:t>FOR ELDERLY USERS</a:t>
            </a:r>
          </a:p>
        </p:txBody>
      </p:sp>
      <p:sp>
        <p:nvSpPr>
          <p:cNvPr id="11" name="TextBox 10"/>
          <p:cNvSpPr txBox="1"/>
          <p:nvPr/>
        </p:nvSpPr>
        <p:spPr>
          <a:xfrm>
            <a:off x="932688" y="3282696"/>
            <a:ext cx="3118104" cy="1719072"/>
          </a:xfrm>
          <a:prstGeom prst="rect">
            <a:avLst/>
          </a:prstGeom>
          <a:noFill/>
        </p:spPr>
        <p:txBody>
          <a:bodyPr wrap="square" lIns="36576" rIns="36576" tIns="27432">
            <a:normAutofit/>
          </a:bodyPr>
          <a:lstStyle/>
          <a:p>
            <a:r>
              <a:rPr sz="1300"/>
              <a:t>Timely prompts, less dependence on written English, and a clear repeatable routine can support independence. Tamil audio, large labels, and a simple pickup area are intended to reduce confusion, but the device must be tested with real users.</a:t>
            </a:r>
          </a:p>
        </p:txBody>
      </p:sp>
      <p:sp>
        <p:nvSpPr>
          <p:cNvPr id="12" name="Rounded Rectangle 11"/>
          <p:cNvSpPr/>
          <p:nvPr/>
        </p:nvSpPr>
        <p:spPr>
          <a:xfrm>
            <a:off x="4553712" y="2743200"/>
            <a:ext cx="3429000" cy="23317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2862072"/>
            <a:ext cx="3118104" cy="365760"/>
          </a:xfrm>
          <a:prstGeom prst="rect">
            <a:avLst/>
          </a:prstGeom>
          <a:noFill/>
        </p:spPr>
        <p:txBody>
          <a:bodyPr wrap="square" lIns="36576" rIns="36576" tIns="27432">
            <a:spAutoFit/>
          </a:bodyPr>
          <a:lstStyle/>
          <a:p>
            <a:pPr>
              <a:spcAft>
                <a:spcPts val="700"/>
              </a:spcAft>
              <a:defRPr sz="1600" b="1">
                <a:solidFill>
                  <a:srgbClr val="6B36AA"/>
                </a:solidFill>
                <a:latin typeface="Aptos"/>
              </a:defRPr>
            </a:pPr>
            <a:r>
              <a:t>FOR CAREGIVERS</a:t>
            </a:r>
          </a:p>
        </p:txBody>
      </p:sp>
      <p:sp>
        <p:nvSpPr>
          <p:cNvPr id="14" name="TextBox 13"/>
          <p:cNvSpPr txBox="1"/>
          <p:nvPr/>
        </p:nvSpPr>
        <p:spPr>
          <a:xfrm>
            <a:off x="4709159" y="3282696"/>
            <a:ext cx="3118104" cy="1719072"/>
          </a:xfrm>
          <a:prstGeom prst="rect">
            <a:avLst/>
          </a:prstGeom>
          <a:noFill/>
        </p:spPr>
        <p:txBody>
          <a:bodyPr wrap="square" lIns="36576" rIns="36576" tIns="27432">
            <a:normAutofit/>
          </a:bodyPr>
          <a:lstStyle/>
          <a:p>
            <a:r>
              <a:rPr sz="1300"/>
              <a:t>Missed-event notifications can help caregivers follow up when they are away. A simple event log may show scheduled, dispensed, and sensor-detected collection events, while clearly identifying unknown or failed states.</a:t>
            </a:r>
          </a:p>
        </p:txBody>
      </p:sp>
      <p:sp>
        <p:nvSpPr>
          <p:cNvPr id="15" name="Rounded Rectangle 14"/>
          <p:cNvSpPr/>
          <p:nvPr/>
        </p:nvSpPr>
        <p:spPr>
          <a:xfrm>
            <a:off x="8330183" y="2743200"/>
            <a:ext cx="3429000" cy="23317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2862072"/>
            <a:ext cx="3118104" cy="365760"/>
          </a:xfrm>
          <a:prstGeom prst="rect">
            <a:avLst/>
          </a:prstGeom>
          <a:noFill/>
        </p:spPr>
        <p:txBody>
          <a:bodyPr wrap="square" lIns="36576" rIns="36576" tIns="27432">
            <a:spAutoFit/>
          </a:bodyPr>
          <a:lstStyle/>
          <a:p>
            <a:pPr>
              <a:spcAft>
                <a:spcPts val="700"/>
              </a:spcAft>
              <a:defRPr sz="1600" b="1">
                <a:solidFill>
                  <a:srgbClr val="19968E"/>
                </a:solidFill>
                <a:latin typeface="Aptos"/>
              </a:defRPr>
            </a:pPr>
            <a:r>
              <a:t>FOR THE SYSTEM</a:t>
            </a:r>
          </a:p>
        </p:txBody>
      </p:sp>
      <p:sp>
        <p:nvSpPr>
          <p:cNvPr id="17" name="TextBox 16"/>
          <p:cNvSpPr txBox="1"/>
          <p:nvPr/>
        </p:nvSpPr>
        <p:spPr>
          <a:xfrm>
            <a:off x="8485632" y="3282696"/>
            <a:ext cx="3118104" cy="1719072"/>
          </a:xfrm>
          <a:prstGeom prst="rect">
            <a:avLst/>
          </a:prstGeom>
          <a:noFill/>
        </p:spPr>
        <p:txBody>
          <a:bodyPr wrap="square" lIns="36576" rIns="36576" tIns="27432">
            <a:normAutofit/>
          </a:bodyPr>
          <a:lstStyle/>
          <a:p>
            <a:r>
              <a:rPr sz="1300"/>
              <a:t>Scheduled operation and consistent reminders may make routines easier to manage. Performance depends on correct loading, reliable mechanics, working sensors, power, and user understanding. It is not a substitute for medical supervision.</a:t>
            </a:r>
          </a:p>
        </p:txBody>
      </p:sp>
      <p:sp>
        <p:nvSpPr>
          <p:cNvPr id="18" name="TextBox 17"/>
          <p:cNvSpPr txBox="1"/>
          <p:nvPr/>
        </p:nvSpPr>
        <p:spPr>
          <a:xfrm>
            <a:off x="868680" y="5897880"/>
            <a:ext cx="10515600" cy="502920"/>
          </a:xfrm>
          <a:prstGeom prst="rect">
            <a:avLst/>
          </a:prstGeom>
          <a:noFill/>
        </p:spPr>
        <p:txBody>
          <a:bodyPr wrap="square" lIns="36576" rIns="36576" tIns="27432">
            <a:normAutofit/>
          </a:bodyPr>
          <a:lstStyle/>
          <a:p>
            <a:r>
              <a:rPr sz="1200"/>
              <a:t>Measure impact through usability feedback, correct-compartment rate, reminder audibility, missed-alert accuracy, jam frequency, and recovery time. Publish actual results only after 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320040"/>
            <a:ext cx="2103120" cy="384048"/>
          </a:xfrm>
          <a:prstGeom prst="roundRect">
            <a:avLst/>
          </a:prstGeom>
          <a:solidFill>
            <a:srgbClr val="EF8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70332"/>
            <a:ext cx="1874519" cy="256032"/>
          </a:xfrm>
          <a:prstGeom prst="rect">
            <a:avLst/>
          </a:prstGeom>
          <a:noFill/>
        </p:spPr>
        <p:txBody>
          <a:bodyPr wrap="square" lIns="36576" rIns="36576" tIns="27432">
            <a:spAutoFit/>
          </a:bodyPr>
          <a:lstStyle/>
          <a:p>
            <a:pPr>
              <a:spcAft>
                <a:spcPts val="700"/>
              </a:spcAft>
              <a:defRPr sz="1100" b="1">
                <a:solidFill>
                  <a:srgbClr val="FFFFFF"/>
                </a:solidFill>
                <a:latin typeface="Aptos"/>
              </a:defRPr>
            </a:pPr>
            <a:r>
              <a:t>10  •  FUTURE SCOPE &amp; CONCLUSION</a:t>
            </a:r>
          </a:p>
        </p:txBody>
      </p:sp>
      <p:sp>
        <p:nvSpPr>
          <p:cNvPr id="5" name="TextBox 4"/>
          <p:cNvSpPr txBox="1"/>
          <p:nvPr/>
        </p:nvSpPr>
        <p:spPr>
          <a:xfrm>
            <a:off x="594360" y="896112"/>
            <a:ext cx="10789920" cy="566928"/>
          </a:xfrm>
          <a:prstGeom prst="rect">
            <a:avLst/>
          </a:prstGeom>
          <a:noFill/>
        </p:spPr>
        <p:txBody>
          <a:bodyPr wrap="square" lIns="36576" rIns="36576" tIns="27432">
            <a:spAutoFit/>
          </a:bodyPr>
          <a:lstStyle/>
          <a:p>
            <a:pPr>
              <a:spcAft>
                <a:spcPts val="700"/>
              </a:spcAft>
              <a:defRPr sz="3000" b="1">
                <a:solidFill>
                  <a:srgbClr val="192348"/>
                </a:solidFill>
                <a:latin typeface="Aptos"/>
              </a:defRPr>
            </a:pPr>
            <a:r>
              <a:t>Future Scope &amp; Conclusion</a:t>
            </a:r>
          </a:p>
        </p:txBody>
      </p:sp>
      <p:sp>
        <p:nvSpPr>
          <p:cNvPr id="6" name="TextBox 5"/>
          <p:cNvSpPr txBox="1"/>
          <p:nvPr/>
        </p:nvSpPr>
        <p:spPr>
          <a:xfrm>
            <a:off x="9646920" y="384048"/>
            <a:ext cx="2011680" cy="256032"/>
          </a:xfrm>
          <a:prstGeom prst="rect">
            <a:avLst/>
          </a:prstGeom>
          <a:noFill/>
        </p:spPr>
        <p:txBody>
          <a:bodyPr wrap="square" lIns="36576" rIns="36576" tIns="27432">
            <a:spAutoFit/>
          </a:bodyPr>
          <a:lstStyle/>
          <a:p>
            <a:pPr algn="r">
              <a:spcAft>
                <a:spcPts val="700"/>
              </a:spcAft>
              <a:defRPr sz="1300" b="1">
                <a:solidFill>
                  <a:srgbClr val="EF8F2E"/>
                </a:solidFill>
                <a:latin typeface="Aptos"/>
              </a:defRPr>
            </a:pPr>
            <a:r>
              <a:t>SYNTAX SQUAD</a:t>
            </a:r>
          </a:p>
        </p:txBody>
      </p:sp>
      <p:sp>
        <p:nvSpPr>
          <p:cNvPr id="7" name="Rectangle 6"/>
          <p:cNvSpPr/>
          <p:nvPr/>
        </p:nvSpPr>
        <p:spPr>
          <a:xfrm>
            <a:off x="594360" y="1572768"/>
            <a:ext cx="10972800" cy="32004"/>
          </a:xfrm>
          <a:prstGeom prst="rect">
            <a:avLst/>
          </a:prstGeom>
          <a:solidFill>
            <a:srgbClr val="EF8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0698480" cy="566928"/>
          </a:xfrm>
          <a:prstGeom prst="rect">
            <a:avLst/>
          </a:prstGeom>
          <a:noFill/>
        </p:spPr>
        <p:txBody>
          <a:bodyPr wrap="square" lIns="36576" rIns="36576" tIns="27432">
            <a:normAutofit/>
          </a:bodyPr>
          <a:lstStyle/>
          <a:p>
            <a:r>
              <a:rPr sz="1200"/>
              <a:t>A safer and more accessible medicine routine is the goal. Future development should prioritise reliability, clear error messages, secure medicine storage, and validation with caregivers and healthcare professionals.</a:t>
            </a:r>
          </a:p>
        </p:txBody>
      </p:sp>
      <p:sp>
        <p:nvSpPr>
          <p:cNvPr id="9" name="Rounded Rectangle 8"/>
          <p:cNvSpPr/>
          <p:nvPr/>
        </p:nvSpPr>
        <p:spPr>
          <a:xfrm>
            <a:off x="777240" y="2743200"/>
            <a:ext cx="3429000" cy="2331720"/>
          </a:xfrm>
          <a:prstGeom prst="roundRect">
            <a:avLst/>
          </a:prstGeom>
          <a:solidFill>
            <a:srgbClr val="FFFFFF"/>
          </a:solidFill>
          <a:ln w="17780">
            <a:solidFill>
              <a:srgbClr val="EF8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62072"/>
            <a:ext cx="3118104" cy="365760"/>
          </a:xfrm>
          <a:prstGeom prst="rect">
            <a:avLst/>
          </a:prstGeom>
          <a:noFill/>
        </p:spPr>
        <p:txBody>
          <a:bodyPr wrap="square" lIns="36576" rIns="36576" tIns="27432">
            <a:spAutoFit/>
          </a:bodyPr>
          <a:lstStyle/>
          <a:p>
            <a:pPr>
              <a:spcAft>
                <a:spcPts val="700"/>
              </a:spcAft>
              <a:defRPr sz="1600" b="1">
                <a:solidFill>
                  <a:srgbClr val="EF8F2E"/>
                </a:solidFill>
                <a:latin typeface="Aptos"/>
              </a:defRPr>
            </a:pPr>
            <a:r>
              <a:t>FUTURE FEATURES</a:t>
            </a:r>
          </a:p>
        </p:txBody>
      </p:sp>
      <p:sp>
        <p:nvSpPr>
          <p:cNvPr id="11" name="TextBox 10"/>
          <p:cNvSpPr txBox="1"/>
          <p:nvPr/>
        </p:nvSpPr>
        <p:spPr>
          <a:xfrm>
            <a:off x="932688" y="3282696"/>
            <a:ext cx="3118104" cy="1719072"/>
          </a:xfrm>
          <a:prstGeom prst="rect">
            <a:avLst/>
          </a:prstGeom>
          <a:noFill/>
        </p:spPr>
        <p:txBody>
          <a:bodyPr wrap="square" lIns="36576" rIns="36576" tIns="27432">
            <a:normAutofit/>
          </a:bodyPr>
          <a:lstStyle/>
          <a:p>
            <a:r>
              <a:rPr sz="1300"/>
              <a:t>Possible additions include a caregiver mobile dashboard, refill reminders, battery backup, medicine schedule review, and more local-language audio. Notifications should show the event clearly and avoid exposing private health details unnecessarily.</a:t>
            </a:r>
          </a:p>
        </p:txBody>
      </p:sp>
      <p:sp>
        <p:nvSpPr>
          <p:cNvPr id="12" name="Rounded Rectangle 11"/>
          <p:cNvSpPr/>
          <p:nvPr/>
        </p:nvSpPr>
        <p:spPr>
          <a:xfrm>
            <a:off x="4553712" y="2743200"/>
            <a:ext cx="3429000" cy="2331720"/>
          </a:xfrm>
          <a:prstGeom prst="roundRect">
            <a:avLst/>
          </a:prstGeom>
          <a:solidFill>
            <a:srgbClr val="FFFFFF"/>
          </a:solidFill>
          <a:ln w="17780">
            <a:solidFill>
              <a:srgbClr val="6B3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2862072"/>
            <a:ext cx="3118104" cy="365760"/>
          </a:xfrm>
          <a:prstGeom prst="rect">
            <a:avLst/>
          </a:prstGeom>
          <a:noFill/>
        </p:spPr>
        <p:txBody>
          <a:bodyPr wrap="square" lIns="36576" rIns="36576" tIns="27432">
            <a:spAutoFit/>
          </a:bodyPr>
          <a:lstStyle/>
          <a:p>
            <a:pPr>
              <a:spcAft>
                <a:spcPts val="700"/>
              </a:spcAft>
              <a:defRPr sz="1600" b="1">
                <a:solidFill>
                  <a:srgbClr val="6B36AA"/>
                </a:solidFill>
                <a:latin typeface="Aptos"/>
              </a:defRPr>
            </a:pPr>
            <a:r>
              <a:t>NEXT IMPROVEMENTS</a:t>
            </a:r>
          </a:p>
        </p:txBody>
      </p:sp>
      <p:sp>
        <p:nvSpPr>
          <p:cNvPr id="14" name="TextBox 13"/>
          <p:cNvSpPr txBox="1"/>
          <p:nvPr/>
        </p:nvSpPr>
        <p:spPr>
          <a:xfrm>
            <a:off x="4709159" y="3282696"/>
            <a:ext cx="3118104" cy="1719072"/>
          </a:xfrm>
          <a:prstGeom prst="rect">
            <a:avLst/>
          </a:prstGeom>
          <a:noFill/>
        </p:spPr>
        <p:txBody>
          <a:bodyPr wrap="square" lIns="36576" rIns="36576" tIns="27432">
            <a:normAutofit/>
          </a:bodyPr>
          <a:lstStyle/>
          <a:p>
            <a:r>
              <a:rPr sz="1300"/>
              <a:t>Improve jam detection, lockable medicine storage, large tactile buttons, power-failure handling, and clearer status indicators. Add a manual recovery process so the user is not left confused if the device cannot dispense.</a:t>
            </a:r>
          </a:p>
        </p:txBody>
      </p:sp>
      <p:sp>
        <p:nvSpPr>
          <p:cNvPr id="15" name="Rounded Rectangle 14"/>
          <p:cNvSpPr/>
          <p:nvPr/>
        </p:nvSpPr>
        <p:spPr>
          <a:xfrm>
            <a:off x="8330183" y="2743200"/>
            <a:ext cx="3429000" cy="2331720"/>
          </a:xfrm>
          <a:prstGeom prst="roundRect">
            <a:avLst/>
          </a:prstGeom>
          <a:solidFill>
            <a:srgbClr val="FFFFFF"/>
          </a:solidFill>
          <a:ln w="17780">
            <a:solidFill>
              <a:srgbClr val="1996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2862072"/>
            <a:ext cx="3118104" cy="365760"/>
          </a:xfrm>
          <a:prstGeom prst="rect">
            <a:avLst/>
          </a:prstGeom>
          <a:noFill/>
        </p:spPr>
        <p:txBody>
          <a:bodyPr wrap="square" lIns="36576" rIns="36576" tIns="27432">
            <a:spAutoFit/>
          </a:bodyPr>
          <a:lstStyle/>
          <a:p>
            <a:pPr>
              <a:spcAft>
                <a:spcPts val="700"/>
              </a:spcAft>
              <a:defRPr sz="1600" b="1">
                <a:solidFill>
                  <a:srgbClr val="19968E"/>
                </a:solidFill>
                <a:latin typeface="Aptos"/>
              </a:defRPr>
            </a:pPr>
            <a:r>
              <a:t>CONCLUSION</a:t>
            </a:r>
          </a:p>
        </p:txBody>
      </p:sp>
      <p:sp>
        <p:nvSpPr>
          <p:cNvPr id="17" name="TextBox 16"/>
          <p:cNvSpPr txBox="1"/>
          <p:nvPr/>
        </p:nvSpPr>
        <p:spPr>
          <a:xfrm>
            <a:off x="8485632" y="3282696"/>
            <a:ext cx="3118104" cy="1719072"/>
          </a:xfrm>
          <a:prstGeom prst="rect">
            <a:avLst/>
          </a:prstGeom>
          <a:noFill/>
        </p:spPr>
        <p:txBody>
          <a:bodyPr wrap="square" lIns="36576" rIns="36576" tIns="27432">
            <a:normAutofit/>
          </a:bodyPr>
          <a:lstStyle/>
          <a:p>
            <a:r>
              <a:rPr sz="1300"/>
              <a:t>The concept combines scheduled dispensing, accessible reminders, and caregiver support in one system. Correct operation depends on verified prescription details and careful loading; a sensor can detect collection but cannot confirm swallowing.</a:t>
            </a:r>
          </a:p>
        </p:txBody>
      </p:sp>
      <p:sp>
        <p:nvSpPr>
          <p:cNvPr id="18" name="TextBox 17"/>
          <p:cNvSpPr txBox="1"/>
          <p:nvPr/>
        </p:nvSpPr>
        <p:spPr>
          <a:xfrm>
            <a:off x="868680" y="5897880"/>
            <a:ext cx="10515600" cy="502920"/>
          </a:xfrm>
          <a:prstGeom prst="rect">
            <a:avLst/>
          </a:prstGeom>
          <a:noFill/>
        </p:spPr>
        <p:txBody>
          <a:bodyPr wrap="square" lIns="36576" rIns="36576" tIns="27432">
            <a:normAutofit/>
          </a:bodyPr>
          <a:lstStyle/>
          <a:p>
            <a:r>
              <a:rPr sz="1200"/>
              <a:t>“Small steps today, healthier tomorrows.”  •  SYNTAX SQUAD  •  Next step: build, test, document results, and improve with caregiver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